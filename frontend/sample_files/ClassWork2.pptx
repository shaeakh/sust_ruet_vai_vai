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Gordita Bold" charset="1" panose="00000000000000000000"/>
      <p:regular r:id="rId22"/>
    </p:embeddedFont>
    <p:embeddedFont>
      <p:font typeface="Gordita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pn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svg" Type="http://schemas.openxmlformats.org/officeDocument/2006/relationships/image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svg" Type="http://schemas.openxmlformats.org/officeDocument/2006/relationships/image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svg" Type="http://schemas.openxmlformats.org/officeDocument/2006/relationships/image"/><Relationship Id="rId11" Target="../media/image63.png" Type="http://schemas.openxmlformats.org/officeDocument/2006/relationships/image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svg" Type="http://schemas.openxmlformats.org/officeDocument/2006/relationships/image"/><Relationship Id="rId12" Target="../media/image74.png" Type="http://schemas.openxmlformats.org/officeDocument/2006/relationships/image"/><Relationship Id="rId13" Target="../media/image75.svg" Type="http://schemas.openxmlformats.org/officeDocument/2006/relationships/image"/><Relationship Id="rId2" Target="../media/image64.png" Type="http://schemas.openxmlformats.org/officeDocument/2006/relationships/image"/><Relationship Id="rId3" Target="../media/image65.png" Type="http://schemas.openxmlformats.org/officeDocument/2006/relationships/image"/><Relationship Id="rId4" Target="../media/image66.sv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69.png" Type="http://schemas.openxmlformats.org/officeDocument/2006/relationships/image"/><Relationship Id="rId8" Target="../media/image70.sv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svg" Type="http://schemas.openxmlformats.org/officeDocument/2006/relationships/image"/><Relationship Id="rId12" Target="../media/image74.png" Type="http://schemas.openxmlformats.org/officeDocument/2006/relationships/image"/><Relationship Id="rId13" Target="../media/image75.svg" Type="http://schemas.openxmlformats.org/officeDocument/2006/relationships/image"/><Relationship Id="rId2" Target="../media/image76.png" Type="http://schemas.openxmlformats.org/officeDocument/2006/relationships/image"/><Relationship Id="rId3" Target="../media/image65.png" Type="http://schemas.openxmlformats.org/officeDocument/2006/relationships/image"/><Relationship Id="rId4" Target="../media/image66.sv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69.png" Type="http://schemas.openxmlformats.org/officeDocument/2006/relationships/image"/><Relationship Id="rId8" Target="../media/image70.sv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svg" Type="http://schemas.openxmlformats.org/officeDocument/2006/relationships/image"/><Relationship Id="rId11" Target="../media/image74.png" Type="http://schemas.openxmlformats.org/officeDocument/2006/relationships/image"/><Relationship Id="rId12" Target="../media/image75.svg" Type="http://schemas.openxmlformats.org/officeDocument/2006/relationships/image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2" Target="../media/image77.png" Type="http://schemas.openxmlformats.org/officeDocument/2006/relationships/image"/><Relationship Id="rId3" Target="../media/image78.svg" Type="http://schemas.openxmlformats.org/officeDocument/2006/relationships/image"/><Relationship Id="rId4" Target="../media/image79.png" Type="http://schemas.openxmlformats.org/officeDocument/2006/relationships/image"/><Relationship Id="rId5" Target="../media/image80.svg" Type="http://schemas.openxmlformats.org/officeDocument/2006/relationships/image"/><Relationship Id="rId6" Target="../media/image81.png" Type="http://schemas.openxmlformats.org/officeDocument/2006/relationships/image"/><Relationship Id="rId7" Target="../media/image82.png" Type="http://schemas.openxmlformats.org/officeDocument/2006/relationships/image"/><Relationship Id="rId8" Target="../media/image83.sv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93.svg" Type="http://schemas.openxmlformats.org/officeDocument/2006/relationships/image"/><Relationship Id="rId12" Target="../media/image94.png" Type="http://schemas.openxmlformats.org/officeDocument/2006/relationships/image"/><Relationship Id="rId2" Target="../media/image86.png" Type="http://schemas.openxmlformats.org/officeDocument/2006/relationships/image"/><Relationship Id="rId3" Target="../media/image87.svg" Type="http://schemas.openxmlformats.org/officeDocument/2006/relationships/image"/><Relationship Id="rId4" Target="../media/image88.png" Type="http://schemas.openxmlformats.org/officeDocument/2006/relationships/image"/><Relationship Id="rId5" Target="../media/image8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90.pn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svg" Type="http://schemas.openxmlformats.org/officeDocument/2006/relationships/image"/><Relationship Id="rId11" Target="../media/image100.png" Type="http://schemas.openxmlformats.org/officeDocument/2006/relationships/image"/><Relationship Id="rId12" Target="../media/image101.png" Type="http://schemas.openxmlformats.org/officeDocument/2006/relationships/image"/><Relationship Id="rId13" Target="../media/image102.svg" Type="http://schemas.openxmlformats.org/officeDocument/2006/relationships/image"/><Relationship Id="rId2" Target="../media/image95.png" Type="http://schemas.openxmlformats.org/officeDocument/2006/relationships/image"/><Relationship Id="rId3" Target="../media/image96.svg" Type="http://schemas.openxmlformats.org/officeDocument/2006/relationships/image"/><Relationship Id="rId4" Target="../media/image97.png" Type="http://schemas.openxmlformats.org/officeDocument/2006/relationships/image"/><Relationship Id="rId5" Target="../media/image98.svg" Type="http://schemas.openxmlformats.org/officeDocument/2006/relationships/image"/><Relationship Id="rId6" Target="../media/image99.pn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8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09255">
            <a:off x="16077240" y="2683312"/>
            <a:ext cx="4009724" cy="4498989"/>
          </a:xfrm>
          <a:custGeom>
            <a:avLst/>
            <a:gdLst/>
            <a:ahLst/>
            <a:cxnLst/>
            <a:rect r="r" b="b" t="t" l="l"/>
            <a:pathLst>
              <a:path h="4498989" w="4009724">
                <a:moveTo>
                  <a:pt x="0" y="0"/>
                </a:moveTo>
                <a:lnTo>
                  <a:pt x="4009724" y="0"/>
                </a:lnTo>
                <a:lnTo>
                  <a:pt x="4009724" y="4498989"/>
                </a:lnTo>
                <a:lnTo>
                  <a:pt x="0" y="4498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37370" y="1320154"/>
            <a:ext cx="10171284" cy="5027822"/>
            <a:chOff x="0" y="0"/>
            <a:chExt cx="406400" cy="2008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400" cy="200890"/>
            </a:xfrm>
            <a:custGeom>
              <a:avLst/>
              <a:gdLst/>
              <a:ahLst/>
              <a:cxnLst/>
              <a:rect r="r" b="b" t="t" l="l"/>
              <a:pathLst>
                <a:path h="200890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200890"/>
                  </a:lnTo>
                  <a:lnTo>
                    <a:pt x="406400" y="20089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28575"/>
              <a:ext cx="203200" cy="22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14955493" y="-901138"/>
            <a:ext cx="3479119" cy="5281395"/>
          </a:xfrm>
          <a:custGeom>
            <a:avLst/>
            <a:gdLst/>
            <a:ahLst/>
            <a:cxnLst/>
            <a:rect r="r" b="b" t="t" l="l"/>
            <a:pathLst>
              <a:path h="5281395" w="3479119">
                <a:moveTo>
                  <a:pt x="0" y="0"/>
                </a:moveTo>
                <a:lnTo>
                  <a:pt x="3479119" y="0"/>
                </a:lnTo>
                <a:lnTo>
                  <a:pt x="3479119" y="5281395"/>
                </a:lnTo>
                <a:lnTo>
                  <a:pt x="0" y="52813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766485" y="4789688"/>
            <a:ext cx="4816943" cy="3690982"/>
          </a:xfrm>
          <a:custGeom>
            <a:avLst/>
            <a:gdLst/>
            <a:ahLst/>
            <a:cxnLst/>
            <a:rect r="r" b="b" t="t" l="l"/>
            <a:pathLst>
              <a:path h="3690982" w="4816943">
                <a:moveTo>
                  <a:pt x="0" y="0"/>
                </a:moveTo>
                <a:lnTo>
                  <a:pt x="4816943" y="0"/>
                </a:lnTo>
                <a:lnTo>
                  <a:pt x="4816943" y="3690982"/>
                </a:lnTo>
                <a:lnTo>
                  <a:pt x="0" y="36909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-2700000">
            <a:off x="-1562100" y="5776479"/>
            <a:ext cx="3086100" cy="6963643"/>
            <a:chOff x="0" y="0"/>
            <a:chExt cx="812800" cy="18340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834046"/>
            </a:xfrm>
            <a:custGeom>
              <a:avLst/>
              <a:gdLst/>
              <a:ahLst/>
              <a:cxnLst/>
              <a:rect r="r" b="b" t="t" l="l"/>
              <a:pathLst>
                <a:path h="183404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34046"/>
                  </a:lnTo>
                  <a:lnTo>
                    <a:pt x="0" y="1834046"/>
                  </a:ln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12800" cy="1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0">
            <a:off x="1318517" y="8087083"/>
            <a:ext cx="6872983" cy="2457092"/>
          </a:xfrm>
          <a:custGeom>
            <a:avLst/>
            <a:gdLst/>
            <a:ahLst/>
            <a:cxnLst/>
            <a:rect r="r" b="b" t="t" l="l"/>
            <a:pathLst>
              <a:path h="2457092" w="6872983">
                <a:moveTo>
                  <a:pt x="0" y="2457092"/>
                </a:moveTo>
                <a:lnTo>
                  <a:pt x="6872983" y="2457092"/>
                </a:lnTo>
                <a:lnTo>
                  <a:pt x="6872983" y="0"/>
                </a:lnTo>
                <a:lnTo>
                  <a:pt x="0" y="0"/>
                </a:lnTo>
                <a:lnTo>
                  <a:pt x="0" y="24570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3866269" y="1028700"/>
            <a:ext cx="698240" cy="854116"/>
          </a:xfrm>
          <a:custGeom>
            <a:avLst/>
            <a:gdLst/>
            <a:ahLst/>
            <a:cxnLst/>
            <a:rect r="r" b="b" t="t" l="l"/>
            <a:pathLst>
              <a:path h="854116" w="698240">
                <a:moveTo>
                  <a:pt x="0" y="0"/>
                </a:moveTo>
                <a:lnTo>
                  <a:pt x="698239" y="0"/>
                </a:lnTo>
                <a:lnTo>
                  <a:pt x="698239" y="854116"/>
                </a:lnTo>
                <a:lnTo>
                  <a:pt x="0" y="8541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443043" y="-1199089"/>
            <a:ext cx="4591130" cy="4114800"/>
          </a:xfrm>
          <a:custGeom>
            <a:avLst/>
            <a:gdLst/>
            <a:ahLst/>
            <a:cxnLst/>
            <a:rect r="r" b="b" t="t" l="l"/>
            <a:pathLst>
              <a:path h="4114800" w="4591130">
                <a:moveTo>
                  <a:pt x="0" y="0"/>
                </a:moveTo>
                <a:lnTo>
                  <a:pt x="4591129" y="0"/>
                </a:lnTo>
                <a:lnTo>
                  <a:pt x="45911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326665" y="6635179"/>
            <a:ext cx="5044096" cy="5044096"/>
          </a:xfrm>
          <a:custGeom>
            <a:avLst/>
            <a:gdLst/>
            <a:ahLst/>
            <a:cxnLst/>
            <a:rect r="r" b="b" t="t" l="l"/>
            <a:pathLst>
              <a:path h="5044096" w="5044096">
                <a:moveTo>
                  <a:pt x="0" y="0"/>
                </a:moveTo>
                <a:lnTo>
                  <a:pt x="5044097" y="0"/>
                </a:lnTo>
                <a:lnTo>
                  <a:pt x="5044097" y="5044096"/>
                </a:lnTo>
                <a:lnTo>
                  <a:pt x="0" y="50440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193191" y="2796327"/>
            <a:ext cx="524017" cy="810266"/>
          </a:xfrm>
          <a:custGeom>
            <a:avLst/>
            <a:gdLst/>
            <a:ahLst/>
            <a:cxnLst/>
            <a:rect r="r" b="b" t="t" l="l"/>
            <a:pathLst>
              <a:path h="810266" w="524017">
                <a:moveTo>
                  <a:pt x="0" y="0"/>
                </a:moveTo>
                <a:lnTo>
                  <a:pt x="524017" y="0"/>
                </a:lnTo>
                <a:lnTo>
                  <a:pt x="524017" y="810267"/>
                </a:lnTo>
                <a:lnTo>
                  <a:pt x="0" y="810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-257445" b="-131167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414880" y="2424365"/>
            <a:ext cx="9458240" cy="398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7"/>
              </a:lnSpc>
            </a:pPr>
            <a:r>
              <a:rPr lang="en-US" b="true" sz="14152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THESIS DEFENSE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466540" y="747965"/>
            <a:ext cx="3086100" cy="308610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167186" y="1056741"/>
            <a:ext cx="9953628" cy="890682"/>
            <a:chOff x="0" y="0"/>
            <a:chExt cx="13271504" cy="1187575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1441575" y="370268"/>
              <a:ext cx="11829928" cy="466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400" b="true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Shahjalal University Of  Science and Technology, Sylhet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7575" cy="1187575"/>
            </a:xfrm>
            <a:custGeom>
              <a:avLst/>
              <a:gdLst/>
              <a:ahLst/>
              <a:cxnLst/>
              <a:rect r="r" b="b" t="t" l="l"/>
              <a:pathLst>
                <a:path h="1187575" w="1187575">
                  <a:moveTo>
                    <a:pt x="0" y="0"/>
                  </a:moveTo>
                  <a:lnTo>
                    <a:pt x="1187575" y="0"/>
                  </a:lnTo>
                  <a:lnTo>
                    <a:pt x="1187575" y="1187575"/>
                  </a:lnTo>
                  <a:lnTo>
                    <a:pt x="0" y="1187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885086" y="7029808"/>
            <a:ext cx="4517827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Presented By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Towhidur Rahman Asif 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&amp; 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M. M. Zahid Hasan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42128" y="771950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532021" y="-139573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-2700000">
            <a:off x="17145794" y="-2326513"/>
            <a:ext cx="2122680" cy="6963643"/>
            <a:chOff x="0" y="0"/>
            <a:chExt cx="559060" cy="18340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9060" cy="1834046"/>
            </a:xfrm>
            <a:custGeom>
              <a:avLst/>
              <a:gdLst/>
              <a:ahLst/>
              <a:cxnLst/>
              <a:rect r="r" b="b" t="t" l="l"/>
              <a:pathLst>
                <a:path h="1834046" w="559060">
                  <a:moveTo>
                    <a:pt x="0" y="0"/>
                  </a:moveTo>
                  <a:lnTo>
                    <a:pt x="559060" y="0"/>
                  </a:lnTo>
                  <a:lnTo>
                    <a:pt x="559060" y="1834046"/>
                  </a:lnTo>
                  <a:lnTo>
                    <a:pt x="0" y="1834046"/>
                  </a:ln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559060" cy="1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5400000">
            <a:off x="14837031" y="2967398"/>
            <a:ext cx="5150699" cy="1751238"/>
          </a:xfrm>
          <a:custGeom>
            <a:avLst/>
            <a:gdLst/>
            <a:ahLst/>
            <a:cxnLst/>
            <a:rect r="r" b="b" t="t" l="l"/>
            <a:pathLst>
              <a:path h="1751238" w="5150699">
                <a:moveTo>
                  <a:pt x="0" y="0"/>
                </a:moveTo>
                <a:lnTo>
                  <a:pt x="5150700" y="0"/>
                </a:lnTo>
                <a:lnTo>
                  <a:pt x="5150700" y="1751238"/>
                </a:lnTo>
                <a:lnTo>
                  <a:pt x="0" y="1751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532021" y="2544607"/>
            <a:ext cx="3793397" cy="3646402"/>
          </a:xfrm>
          <a:custGeom>
            <a:avLst/>
            <a:gdLst/>
            <a:ahLst/>
            <a:cxnLst/>
            <a:rect r="r" b="b" t="t" l="l"/>
            <a:pathLst>
              <a:path h="3646402" w="3793397">
                <a:moveTo>
                  <a:pt x="0" y="0"/>
                </a:moveTo>
                <a:lnTo>
                  <a:pt x="3793397" y="0"/>
                </a:lnTo>
                <a:lnTo>
                  <a:pt x="3793397" y="3646403"/>
                </a:lnTo>
                <a:lnTo>
                  <a:pt x="0" y="36464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820896" y="442445"/>
            <a:ext cx="435710" cy="438450"/>
          </a:xfrm>
          <a:custGeom>
            <a:avLst/>
            <a:gdLst/>
            <a:ahLst/>
            <a:cxnLst/>
            <a:rect r="r" b="b" t="t" l="l"/>
            <a:pathLst>
              <a:path h="438450" w="435710">
                <a:moveTo>
                  <a:pt x="0" y="0"/>
                </a:moveTo>
                <a:lnTo>
                  <a:pt x="435709" y="0"/>
                </a:lnTo>
                <a:lnTo>
                  <a:pt x="435709" y="438450"/>
                </a:lnTo>
                <a:lnTo>
                  <a:pt x="0" y="4384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066800"/>
            <a:ext cx="15900618" cy="1611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8"/>
              </a:lnSpc>
            </a:pPr>
            <a:r>
              <a:rPr lang="en-US" sz="3871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The Role of Structure in Reasoning: </a:t>
            </a:r>
          </a:p>
          <a:p>
            <a:pPr algn="ctr">
              <a:lnSpc>
                <a:spcPts val="4258"/>
              </a:lnSpc>
            </a:pPr>
            <a:r>
              <a:rPr lang="en-US" sz="3871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A Comparative Evaluation of Structured Chain-of-Thought Prompting for Text-to-SQL with Modern Language Models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90614" y="3754430"/>
            <a:ext cx="15617531" cy="9162337"/>
            <a:chOff x="0" y="0"/>
            <a:chExt cx="4113259" cy="24131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13259" cy="2413126"/>
            </a:xfrm>
            <a:custGeom>
              <a:avLst/>
              <a:gdLst/>
              <a:ahLst/>
              <a:cxnLst/>
              <a:rect r="r" b="b" t="t" l="l"/>
              <a:pathLst>
                <a:path h="2413126" w="4113259">
                  <a:moveTo>
                    <a:pt x="21812" y="0"/>
                  </a:moveTo>
                  <a:lnTo>
                    <a:pt x="4091447" y="0"/>
                  </a:lnTo>
                  <a:cubicBezTo>
                    <a:pt x="4097232" y="0"/>
                    <a:pt x="4102780" y="2298"/>
                    <a:pt x="4106871" y="6388"/>
                  </a:cubicBezTo>
                  <a:cubicBezTo>
                    <a:pt x="4110961" y="10479"/>
                    <a:pt x="4113259" y="16027"/>
                    <a:pt x="4113259" y="21812"/>
                  </a:cubicBezTo>
                  <a:lnTo>
                    <a:pt x="4113259" y="2391314"/>
                  </a:lnTo>
                  <a:cubicBezTo>
                    <a:pt x="4113259" y="2397099"/>
                    <a:pt x="4110961" y="2402647"/>
                    <a:pt x="4106871" y="2406737"/>
                  </a:cubicBezTo>
                  <a:cubicBezTo>
                    <a:pt x="4102780" y="2410828"/>
                    <a:pt x="4097232" y="2413126"/>
                    <a:pt x="4091447" y="2413126"/>
                  </a:cubicBezTo>
                  <a:lnTo>
                    <a:pt x="21812" y="2413126"/>
                  </a:lnTo>
                  <a:cubicBezTo>
                    <a:pt x="16027" y="2413126"/>
                    <a:pt x="10479" y="2410828"/>
                    <a:pt x="6388" y="2406737"/>
                  </a:cubicBezTo>
                  <a:cubicBezTo>
                    <a:pt x="2298" y="2402647"/>
                    <a:pt x="0" y="2397099"/>
                    <a:pt x="0" y="2391314"/>
                  </a:cubicBezTo>
                  <a:lnTo>
                    <a:pt x="0" y="21812"/>
                  </a:lnTo>
                  <a:cubicBezTo>
                    <a:pt x="0" y="16027"/>
                    <a:pt x="2298" y="10479"/>
                    <a:pt x="6388" y="6388"/>
                  </a:cubicBezTo>
                  <a:cubicBezTo>
                    <a:pt x="10479" y="2298"/>
                    <a:pt x="16027" y="0"/>
                    <a:pt x="21812" y="0"/>
                  </a:cubicBez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113259" cy="2441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599828" y="4014781"/>
            <a:ext cx="13100890" cy="1377416"/>
            <a:chOff x="0" y="0"/>
            <a:chExt cx="3450440" cy="3627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50440" cy="362776"/>
            </a:xfrm>
            <a:custGeom>
              <a:avLst/>
              <a:gdLst/>
              <a:ahLst/>
              <a:cxnLst/>
              <a:rect r="r" b="b" t="t" l="l"/>
              <a:pathLst>
                <a:path h="362776" w="3450440">
                  <a:moveTo>
                    <a:pt x="14774" y="0"/>
                  </a:moveTo>
                  <a:lnTo>
                    <a:pt x="3435667" y="0"/>
                  </a:lnTo>
                  <a:cubicBezTo>
                    <a:pt x="3443826" y="0"/>
                    <a:pt x="3450440" y="6614"/>
                    <a:pt x="3450440" y="14774"/>
                  </a:cubicBezTo>
                  <a:lnTo>
                    <a:pt x="3450440" y="348003"/>
                  </a:lnTo>
                  <a:cubicBezTo>
                    <a:pt x="3450440" y="356162"/>
                    <a:pt x="3443826" y="362776"/>
                    <a:pt x="3435667" y="362776"/>
                  </a:cubicBezTo>
                  <a:lnTo>
                    <a:pt x="14774" y="362776"/>
                  </a:lnTo>
                  <a:cubicBezTo>
                    <a:pt x="6614" y="362776"/>
                    <a:pt x="0" y="356162"/>
                    <a:pt x="0" y="348003"/>
                  </a:cubicBezTo>
                  <a:lnTo>
                    <a:pt x="0" y="14774"/>
                  </a:lnTo>
                  <a:cubicBezTo>
                    <a:pt x="0" y="6614"/>
                    <a:pt x="6614" y="0"/>
                    <a:pt x="14774" y="0"/>
                  </a:cubicBezTo>
                  <a:close/>
                </a:path>
              </a:pathLst>
            </a:custGeom>
            <a:solidFill>
              <a:srgbClr val="57B4B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450440" cy="400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 b="true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Towhidur Rahman Asif (2020831016)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 b="true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&amp; </a:t>
              </a:r>
            </a:p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M. M. Zahid Hasan (2020831035)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898040" y="7980163"/>
            <a:ext cx="12802678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 Lecturer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 Department of Software Engineering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Shahjalal University of Science and Technology, Sylhet, Bangladesh </a:t>
            </a:r>
          </a:p>
          <a:p>
            <a:pPr algn="ctr">
              <a:lnSpc>
                <a:spcPts val="2800"/>
              </a:lnSpc>
            </a:pP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Date: 25 November, 2025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99828" y="5773197"/>
            <a:ext cx="13100890" cy="1668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Supervisor: </a:t>
            </a:r>
          </a:p>
          <a:p>
            <a:pPr algn="ctr">
              <a:lnSpc>
                <a:spcPts val="6719"/>
              </a:lnSpc>
            </a:pPr>
            <a:r>
              <a:rPr lang="en-US" sz="4799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Fazle Rabbi Rakib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64629" y="-1028700"/>
            <a:ext cx="3646742" cy="4114800"/>
          </a:xfrm>
          <a:custGeom>
            <a:avLst/>
            <a:gdLst/>
            <a:ahLst/>
            <a:cxnLst/>
            <a:rect r="r" b="b" t="t" l="l"/>
            <a:pathLst>
              <a:path h="4114800" w="3646742">
                <a:moveTo>
                  <a:pt x="0" y="0"/>
                </a:moveTo>
                <a:lnTo>
                  <a:pt x="3646742" y="0"/>
                </a:lnTo>
                <a:lnTo>
                  <a:pt x="36467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406316" y="7853968"/>
            <a:ext cx="4812632" cy="4114800"/>
          </a:xfrm>
          <a:custGeom>
            <a:avLst/>
            <a:gdLst/>
            <a:ahLst/>
            <a:cxnLst/>
            <a:rect r="r" b="b" t="t" l="l"/>
            <a:pathLst>
              <a:path h="4114800" w="4812632">
                <a:moveTo>
                  <a:pt x="0" y="0"/>
                </a:moveTo>
                <a:lnTo>
                  <a:pt x="4812632" y="0"/>
                </a:lnTo>
                <a:lnTo>
                  <a:pt x="48126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-5400000">
            <a:off x="15280202" y="8935944"/>
            <a:ext cx="2675918" cy="3339679"/>
          </a:xfrm>
          <a:custGeom>
            <a:avLst/>
            <a:gdLst/>
            <a:ahLst/>
            <a:cxnLst/>
            <a:rect r="r" b="b" t="t" l="l"/>
            <a:pathLst>
              <a:path h="3339679" w="2675918">
                <a:moveTo>
                  <a:pt x="2675917" y="3339679"/>
                </a:moveTo>
                <a:lnTo>
                  <a:pt x="0" y="3339679"/>
                </a:lnTo>
                <a:lnTo>
                  <a:pt x="0" y="0"/>
                </a:lnTo>
                <a:lnTo>
                  <a:pt x="2675917" y="0"/>
                </a:lnTo>
                <a:lnTo>
                  <a:pt x="2675917" y="333967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2406316" y="2203185"/>
            <a:ext cx="4229254" cy="4007218"/>
          </a:xfrm>
          <a:custGeom>
            <a:avLst/>
            <a:gdLst/>
            <a:ahLst/>
            <a:cxnLst/>
            <a:rect r="r" b="b" t="t" l="l"/>
            <a:pathLst>
              <a:path h="4007218" w="4229254">
                <a:moveTo>
                  <a:pt x="0" y="0"/>
                </a:moveTo>
                <a:lnTo>
                  <a:pt x="4229254" y="0"/>
                </a:lnTo>
                <a:lnTo>
                  <a:pt x="4229254" y="4007218"/>
                </a:lnTo>
                <a:lnTo>
                  <a:pt x="0" y="40072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80784" y="-749992"/>
            <a:ext cx="3945064" cy="4114800"/>
          </a:xfrm>
          <a:custGeom>
            <a:avLst/>
            <a:gdLst/>
            <a:ahLst/>
            <a:cxnLst/>
            <a:rect r="r" b="b" t="t" l="l"/>
            <a:pathLst>
              <a:path h="4114800" w="3945064">
                <a:moveTo>
                  <a:pt x="0" y="0"/>
                </a:moveTo>
                <a:lnTo>
                  <a:pt x="3945064" y="0"/>
                </a:lnTo>
                <a:lnTo>
                  <a:pt x="39450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464629" y="3086100"/>
            <a:ext cx="4288776" cy="4605397"/>
          </a:xfrm>
          <a:custGeom>
            <a:avLst/>
            <a:gdLst/>
            <a:ahLst/>
            <a:cxnLst/>
            <a:rect r="r" b="b" t="t" l="l"/>
            <a:pathLst>
              <a:path h="4605397" w="4288776">
                <a:moveTo>
                  <a:pt x="0" y="0"/>
                </a:moveTo>
                <a:lnTo>
                  <a:pt x="4288776" y="0"/>
                </a:lnTo>
                <a:lnTo>
                  <a:pt x="4288776" y="4605397"/>
                </a:lnTo>
                <a:lnTo>
                  <a:pt x="0" y="46053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5717789" y="2140304"/>
            <a:ext cx="6852421" cy="12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0"/>
              </a:lnSpc>
            </a:pPr>
            <a:r>
              <a:rPr lang="en-US" sz="8600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Abstract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37488" y="3957002"/>
            <a:ext cx="10413024" cy="388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Large Language Models have improved Text-to-SQL tasks, but they still struggle with complex, multi-step reasoning. To address this, we propose Structured Chain-of-Thought (SCoT), which guides the model through a clear, structured process. We compare SCoT with several prompting methods and find that it performs the best across all settings. On Gemini 2.5 Pro and GPT-4o-mini, SCoT reaches 84.33% and 70.20% execution accuracy, clearly outperforming baselines. Our seven-stage pipeline produces no execution errors, showing that light structure and multiple candidate solutions can make Text-to-SQL far more reliable without extra training or annotation.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48816" y="3416185"/>
            <a:ext cx="997761" cy="997761"/>
            <a:chOff x="0" y="0"/>
            <a:chExt cx="262785" cy="2627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785" cy="262785"/>
            </a:xfrm>
            <a:custGeom>
              <a:avLst/>
              <a:gdLst/>
              <a:ahLst/>
              <a:cxnLst/>
              <a:rect r="r" b="b" t="t" l="l"/>
              <a:pathLst>
                <a:path h="262785" w="262785">
                  <a:moveTo>
                    <a:pt x="131392" y="0"/>
                  </a:moveTo>
                  <a:lnTo>
                    <a:pt x="131392" y="0"/>
                  </a:lnTo>
                  <a:cubicBezTo>
                    <a:pt x="166240" y="0"/>
                    <a:pt x="199660" y="13843"/>
                    <a:pt x="224301" y="38484"/>
                  </a:cubicBezTo>
                  <a:cubicBezTo>
                    <a:pt x="248942" y="63125"/>
                    <a:pt x="262785" y="96545"/>
                    <a:pt x="262785" y="131392"/>
                  </a:cubicBezTo>
                  <a:lnTo>
                    <a:pt x="262785" y="131392"/>
                  </a:lnTo>
                  <a:cubicBezTo>
                    <a:pt x="262785" y="166240"/>
                    <a:pt x="248942" y="199660"/>
                    <a:pt x="224301" y="224301"/>
                  </a:cubicBezTo>
                  <a:cubicBezTo>
                    <a:pt x="199660" y="248942"/>
                    <a:pt x="166240" y="262785"/>
                    <a:pt x="131392" y="262785"/>
                  </a:cubicBezTo>
                  <a:lnTo>
                    <a:pt x="131392" y="262785"/>
                  </a:lnTo>
                  <a:cubicBezTo>
                    <a:pt x="96545" y="262785"/>
                    <a:pt x="63125" y="248942"/>
                    <a:pt x="38484" y="224301"/>
                  </a:cubicBezTo>
                  <a:cubicBezTo>
                    <a:pt x="13843" y="199660"/>
                    <a:pt x="0" y="166240"/>
                    <a:pt x="0" y="131392"/>
                  </a:cubicBezTo>
                  <a:lnTo>
                    <a:pt x="0" y="131392"/>
                  </a:lnTo>
                  <a:cubicBezTo>
                    <a:pt x="0" y="96545"/>
                    <a:pt x="13843" y="63125"/>
                    <a:pt x="38484" y="38484"/>
                  </a:cubicBezTo>
                  <a:cubicBezTo>
                    <a:pt x="63125" y="13843"/>
                    <a:pt x="96545" y="0"/>
                    <a:pt x="131392" y="0"/>
                  </a:cubicBezTo>
                  <a:close/>
                </a:path>
              </a:pathLst>
            </a:custGeom>
            <a:solidFill>
              <a:srgbClr val="57B4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62785" cy="319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48816" y="4739869"/>
            <a:ext cx="997761" cy="997761"/>
            <a:chOff x="0" y="0"/>
            <a:chExt cx="262785" cy="2627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2785" cy="262785"/>
            </a:xfrm>
            <a:custGeom>
              <a:avLst/>
              <a:gdLst/>
              <a:ahLst/>
              <a:cxnLst/>
              <a:rect r="r" b="b" t="t" l="l"/>
              <a:pathLst>
                <a:path h="262785" w="262785">
                  <a:moveTo>
                    <a:pt x="131392" y="0"/>
                  </a:moveTo>
                  <a:lnTo>
                    <a:pt x="131392" y="0"/>
                  </a:lnTo>
                  <a:cubicBezTo>
                    <a:pt x="166240" y="0"/>
                    <a:pt x="199660" y="13843"/>
                    <a:pt x="224301" y="38484"/>
                  </a:cubicBezTo>
                  <a:cubicBezTo>
                    <a:pt x="248942" y="63125"/>
                    <a:pt x="262785" y="96545"/>
                    <a:pt x="262785" y="131392"/>
                  </a:cubicBezTo>
                  <a:lnTo>
                    <a:pt x="262785" y="131392"/>
                  </a:lnTo>
                  <a:cubicBezTo>
                    <a:pt x="262785" y="166240"/>
                    <a:pt x="248942" y="199660"/>
                    <a:pt x="224301" y="224301"/>
                  </a:cubicBezTo>
                  <a:cubicBezTo>
                    <a:pt x="199660" y="248942"/>
                    <a:pt x="166240" y="262785"/>
                    <a:pt x="131392" y="262785"/>
                  </a:cubicBezTo>
                  <a:lnTo>
                    <a:pt x="131392" y="262785"/>
                  </a:lnTo>
                  <a:cubicBezTo>
                    <a:pt x="96545" y="262785"/>
                    <a:pt x="63125" y="248942"/>
                    <a:pt x="38484" y="224301"/>
                  </a:cubicBezTo>
                  <a:cubicBezTo>
                    <a:pt x="13843" y="199660"/>
                    <a:pt x="0" y="166240"/>
                    <a:pt x="0" y="131392"/>
                  </a:cubicBezTo>
                  <a:lnTo>
                    <a:pt x="0" y="131392"/>
                  </a:lnTo>
                  <a:cubicBezTo>
                    <a:pt x="0" y="96545"/>
                    <a:pt x="13843" y="63125"/>
                    <a:pt x="38484" y="38484"/>
                  </a:cubicBezTo>
                  <a:cubicBezTo>
                    <a:pt x="63125" y="13843"/>
                    <a:pt x="96545" y="0"/>
                    <a:pt x="131392" y="0"/>
                  </a:cubicBezTo>
                  <a:close/>
                </a:path>
              </a:pathLst>
            </a:custGeom>
            <a:solidFill>
              <a:srgbClr val="57B4B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62785" cy="319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2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700485" y="6560361"/>
            <a:ext cx="5109611" cy="5227223"/>
          </a:xfrm>
          <a:custGeom>
            <a:avLst/>
            <a:gdLst/>
            <a:ahLst/>
            <a:cxnLst/>
            <a:rect r="r" b="b" t="t" l="l"/>
            <a:pathLst>
              <a:path h="5227223" w="5109611">
                <a:moveTo>
                  <a:pt x="0" y="0"/>
                </a:moveTo>
                <a:lnTo>
                  <a:pt x="5109611" y="0"/>
                </a:lnTo>
                <a:lnTo>
                  <a:pt x="5109611" y="5227224"/>
                </a:lnTo>
                <a:lnTo>
                  <a:pt x="0" y="5227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848816" y="6061481"/>
            <a:ext cx="997761" cy="997761"/>
            <a:chOff x="0" y="0"/>
            <a:chExt cx="262785" cy="2627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2785" cy="262785"/>
            </a:xfrm>
            <a:custGeom>
              <a:avLst/>
              <a:gdLst/>
              <a:ahLst/>
              <a:cxnLst/>
              <a:rect r="r" b="b" t="t" l="l"/>
              <a:pathLst>
                <a:path h="262785" w="262785">
                  <a:moveTo>
                    <a:pt x="131392" y="0"/>
                  </a:moveTo>
                  <a:lnTo>
                    <a:pt x="131392" y="0"/>
                  </a:lnTo>
                  <a:cubicBezTo>
                    <a:pt x="166240" y="0"/>
                    <a:pt x="199660" y="13843"/>
                    <a:pt x="224301" y="38484"/>
                  </a:cubicBezTo>
                  <a:cubicBezTo>
                    <a:pt x="248942" y="63125"/>
                    <a:pt x="262785" y="96545"/>
                    <a:pt x="262785" y="131392"/>
                  </a:cubicBezTo>
                  <a:lnTo>
                    <a:pt x="262785" y="131392"/>
                  </a:lnTo>
                  <a:cubicBezTo>
                    <a:pt x="262785" y="166240"/>
                    <a:pt x="248942" y="199660"/>
                    <a:pt x="224301" y="224301"/>
                  </a:cubicBezTo>
                  <a:cubicBezTo>
                    <a:pt x="199660" y="248942"/>
                    <a:pt x="166240" y="262785"/>
                    <a:pt x="131392" y="262785"/>
                  </a:cubicBezTo>
                  <a:lnTo>
                    <a:pt x="131392" y="262785"/>
                  </a:lnTo>
                  <a:cubicBezTo>
                    <a:pt x="96545" y="262785"/>
                    <a:pt x="63125" y="248942"/>
                    <a:pt x="38484" y="224301"/>
                  </a:cubicBezTo>
                  <a:cubicBezTo>
                    <a:pt x="13843" y="199660"/>
                    <a:pt x="0" y="166240"/>
                    <a:pt x="0" y="131392"/>
                  </a:cubicBezTo>
                  <a:lnTo>
                    <a:pt x="0" y="131392"/>
                  </a:lnTo>
                  <a:cubicBezTo>
                    <a:pt x="0" y="96545"/>
                    <a:pt x="13843" y="63125"/>
                    <a:pt x="38484" y="38484"/>
                  </a:cubicBezTo>
                  <a:cubicBezTo>
                    <a:pt x="63125" y="13843"/>
                    <a:pt x="96545" y="0"/>
                    <a:pt x="131392" y="0"/>
                  </a:cubicBezTo>
                  <a:close/>
                </a:path>
              </a:pathLst>
            </a:custGeom>
            <a:solidFill>
              <a:srgbClr val="57B4B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62785" cy="319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48816" y="7383092"/>
            <a:ext cx="997761" cy="997761"/>
            <a:chOff x="0" y="0"/>
            <a:chExt cx="262785" cy="2627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2785" cy="262785"/>
            </a:xfrm>
            <a:custGeom>
              <a:avLst/>
              <a:gdLst/>
              <a:ahLst/>
              <a:cxnLst/>
              <a:rect r="r" b="b" t="t" l="l"/>
              <a:pathLst>
                <a:path h="262785" w="262785">
                  <a:moveTo>
                    <a:pt x="131392" y="0"/>
                  </a:moveTo>
                  <a:lnTo>
                    <a:pt x="131392" y="0"/>
                  </a:lnTo>
                  <a:cubicBezTo>
                    <a:pt x="166240" y="0"/>
                    <a:pt x="199660" y="13843"/>
                    <a:pt x="224301" y="38484"/>
                  </a:cubicBezTo>
                  <a:cubicBezTo>
                    <a:pt x="248942" y="63125"/>
                    <a:pt x="262785" y="96545"/>
                    <a:pt x="262785" y="131392"/>
                  </a:cubicBezTo>
                  <a:lnTo>
                    <a:pt x="262785" y="131392"/>
                  </a:lnTo>
                  <a:cubicBezTo>
                    <a:pt x="262785" y="166240"/>
                    <a:pt x="248942" y="199660"/>
                    <a:pt x="224301" y="224301"/>
                  </a:cubicBezTo>
                  <a:cubicBezTo>
                    <a:pt x="199660" y="248942"/>
                    <a:pt x="166240" y="262785"/>
                    <a:pt x="131392" y="262785"/>
                  </a:cubicBezTo>
                  <a:lnTo>
                    <a:pt x="131392" y="262785"/>
                  </a:lnTo>
                  <a:cubicBezTo>
                    <a:pt x="96545" y="262785"/>
                    <a:pt x="63125" y="248942"/>
                    <a:pt x="38484" y="224301"/>
                  </a:cubicBezTo>
                  <a:cubicBezTo>
                    <a:pt x="13843" y="199660"/>
                    <a:pt x="0" y="166240"/>
                    <a:pt x="0" y="131392"/>
                  </a:cubicBezTo>
                  <a:lnTo>
                    <a:pt x="0" y="131392"/>
                  </a:lnTo>
                  <a:cubicBezTo>
                    <a:pt x="0" y="96545"/>
                    <a:pt x="13843" y="63125"/>
                    <a:pt x="38484" y="38484"/>
                  </a:cubicBezTo>
                  <a:cubicBezTo>
                    <a:pt x="63125" y="13843"/>
                    <a:pt x="96545" y="0"/>
                    <a:pt x="131392" y="0"/>
                  </a:cubicBezTo>
                  <a:close/>
                </a:path>
              </a:pathLst>
            </a:custGeom>
            <a:solidFill>
              <a:srgbClr val="57B4B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62785" cy="319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39369" y="3416185"/>
            <a:ext cx="5476590" cy="4964669"/>
            <a:chOff x="0" y="0"/>
            <a:chExt cx="7302120" cy="6619558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330348" cy="1330348"/>
              <a:chOff x="0" y="0"/>
              <a:chExt cx="262785" cy="26278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62785" cy="262785"/>
              </a:xfrm>
              <a:custGeom>
                <a:avLst/>
                <a:gdLst/>
                <a:ahLst/>
                <a:cxnLst/>
                <a:rect r="r" b="b" t="t" l="l"/>
                <a:pathLst>
                  <a:path h="262785" w="262785">
                    <a:moveTo>
                      <a:pt x="131392" y="0"/>
                    </a:moveTo>
                    <a:lnTo>
                      <a:pt x="131392" y="0"/>
                    </a:lnTo>
                    <a:cubicBezTo>
                      <a:pt x="166240" y="0"/>
                      <a:pt x="199660" y="13843"/>
                      <a:pt x="224301" y="38484"/>
                    </a:cubicBezTo>
                    <a:cubicBezTo>
                      <a:pt x="248942" y="63125"/>
                      <a:pt x="262785" y="96545"/>
                      <a:pt x="262785" y="131392"/>
                    </a:cubicBezTo>
                    <a:lnTo>
                      <a:pt x="262785" y="131392"/>
                    </a:lnTo>
                    <a:cubicBezTo>
                      <a:pt x="262785" y="166240"/>
                      <a:pt x="248942" y="199660"/>
                      <a:pt x="224301" y="224301"/>
                    </a:cubicBezTo>
                    <a:cubicBezTo>
                      <a:pt x="199660" y="248942"/>
                      <a:pt x="166240" y="262785"/>
                      <a:pt x="131392" y="262785"/>
                    </a:cubicBezTo>
                    <a:lnTo>
                      <a:pt x="131392" y="262785"/>
                    </a:lnTo>
                    <a:cubicBezTo>
                      <a:pt x="96545" y="262785"/>
                      <a:pt x="63125" y="248942"/>
                      <a:pt x="38484" y="224301"/>
                    </a:cubicBezTo>
                    <a:cubicBezTo>
                      <a:pt x="13843" y="199660"/>
                      <a:pt x="0" y="166240"/>
                      <a:pt x="0" y="131392"/>
                    </a:cubicBezTo>
                    <a:lnTo>
                      <a:pt x="0" y="131392"/>
                    </a:lnTo>
                    <a:cubicBezTo>
                      <a:pt x="0" y="96545"/>
                      <a:pt x="13843" y="63125"/>
                      <a:pt x="38484" y="38484"/>
                    </a:cubicBezTo>
                    <a:cubicBezTo>
                      <a:pt x="63125" y="13843"/>
                      <a:pt x="96545" y="0"/>
                      <a:pt x="131392" y="0"/>
                    </a:cubicBezTo>
                    <a:close/>
                  </a:path>
                </a:pathLst>
              </a:custGeom>
              <a:solidFill>
                <a:srgbClr val="57B4BA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262785" cy="319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b="true" sz="2799">
                    <a:solidFill>
                      <a:srgbClr val="015551"/>
                    </a:solidFill>
                    <a:latin typeface="Gordita Bold"/>
                    <a:ea typeface="Gordita Bold"/>
                    <a:cs typeface="Gordita Bold"/>
                    <a:sym typeface="Gordita Bold"/>
                  </a:rPr>
                  <a:t>5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764913"/>
              <a:ext cx="1330348" cy="1330348"/>
              <a:chOff x="0" y="0"/>
              <a:chExt cx="262785" cy="26278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62785" cy="262785"/>
              </a:xfrm>
              <a:custGeom>
                <a:avLst/>
                <a:gdLst/>
                <a:ahLst/>
                <a:cxnLst/>
                <a:rect r="r" b="b" t="t" l="l"/>
                <a:pathLst>
                  <a:path h="262785" w="262785">
                    <a:moveTo>
                      <a:pt x="131392" y="0"/>
                    </a:moveTo>
                    <a:lnTo>
                      <a:pt x="131392" y="0"/>
                    </a:lnTo>
                    <a:cubicBezTo>
                      <a:pt x="166240" y="0"/>
                      <a:pt x="199660" y="13843"/>
                      <a:pt x="224301" y="38484"/>
                    </a:cubicBezTo>
                    <a:cubicBezTo>
                      <a:pt x="248942" y="63125"/>
                      <a:pt x="262785" y="96545"/>
                      <a:pt x="262785" y="131392"/>
                    </a:cubicBezTo>
                    <a:lnTo>
                      <a:pt x="262785" y="131392"/>
                    </a:lnTo>
                    <a:cubicBezTo>
                      <a:pt x="262785" y="166240"/>
                      <a:pt x="248942" y="199660"/>
                      <a:pt x="224301" y="224301"/>
                    </a:cubicBezTo>
                    <a:cubicBezTo>
                      <a:pt x="199660" y="248942"/>
                      <a:pt x="166240" y="262785"/>
                      <a:pt x="131392" y="262785"/>
                    </a:cubicBezTo>
                    <a:lnTo>
                      <a:pt x="131392" y="262785"/>
                    </a:lnTo>
                    <a:cubicBezTo>
                      <a:pt x="96545" y="262785"/>
                      <a:pt x="63125" y="248942"/>
                      <a:pt x="38484" y="224301"/>
                    </a:cubicBezTo>
                    <a:cubicBezTo>
                      <a:pt x="13843" y="199660"/>
                      <a:pt x="0" y="166240"/>
                      <a:pt x="0" y="131392"/>
                    </a:cubicBezTo>
                    <a:lnTo>
                      <a:pt x="0" y="131392"/>
                    </a:lnTo>
                    <a:cubicBezTo>
                      <a:pt x="0" y="96545"/>
                      <a:pt x="13843" y="63125"/>
                      <a:pt x="38484" y="38484"/>
                    </a:cubicBezTo>
                    <a:cubicBezTo>
                      <a:pt x="63125" y="13843"/>
                      <a:pt x="96545" y="0"/>
                      <a:pt x="131392" y="0"/>
                    </a:cubicBezTo>
                    <a:close/>
                  </a:path>
                </a:pathLst>
              </a:custGeom>
              <a:solidFill>
                <a:srgbClr val="57B4BA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57150"/>
                <a:ext cx="262785" cy="319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b="true" sz="2799">
                    <a:solidFill>
                      <a:srgbClr val="015551"/>
                    </a:solidFill>
                    <a:latin typeface="Gordita Bold"/>
                    <a:ea typeface="Gordita Bold"/>
                    <a:cs typeface="Gordita Bold"/>
                    <a:sym typeface="Gordita Bold"/>
                  </a:rPr>
                  <a:t>6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737679" y="319099"/>
              <a:ext cx="5564441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Results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737679" y="2084012"/>
              <a:ext cx="5564441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Comparison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0" y="3527061"/>
              <a:ext cx="1330348" cy="1330348"/>
              <a:chOff x="0" y="0"/>
              <a:chExt cx="262785" cy="26278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62785" cy="262785"/>
              </a:xfrm>
              <a:custGeom>
                <a:avLst/>
                <a:gdLst/>
                <a:ahLst/>
                <a:cxnLst/>
                <a:rect r="r" b="b" t="t" l="l"/>
                <a:pathLst>
                  <a:path h="262785" w="262785">
                    <a:moveTo>
                      <a:pt x="131392" y="0"/>
                    </a:moveTo>
                    <a:lnTo>
                      <a:pt x="131392" y="0"/>
                    </a:lnTo>
                    <a:cubicBezTo>
                      <a:pt x="166240" y="0"/>
                      <a:pt x="199660" y="13843"/>
                      <a:pt x="224301" y="38484"/>
                    </a:cubicBezTo>
                    <a:cubicBezTo>
                      <a:pt x="248942" y="63125"/>
                      <a:pt x="262785" y="96545"/>
                      <a:pt x="262785" y="131392"/>
                    </a:cubicBezTo>
                    <a:lnTo>
                      <a:pt x="262785" y="131392"/>
                    </a:lnTo>
                    <a:cubicBezTo>
                      <a:pt x="262785" y="166240"/>
                      <a:pt x="248942" y="199660"/>
                      <a:pt x="224301" y="224301"/>
                    </a:cubicBezTo>
                    <a:cubicBezTo>
                      <a:pt x="199660" y="248942"/>
                      <a:pt x="166240" y="262785"/>
                      <a:pt x="131392" y="262785"/>
                    </a:cubicBezTo>
                    <a:lnTo>
                      <a:pt x="131392" y="262785"/>
                    </a:lnTo>
                    <a:cubicBezTo>
                      <a:pt x="96545" y="262785"/>
                      <a:pt x="63125" y="248942"/>
                      <a:pt x="38484" y="224301"/>
                    </a:cubicBezTo>
                    <a:cubicBezTo>
                      <a:pt x="13843" y="199660"/>
                      <a:pt x="0" y="166240"/>
                      <a:pt x="0" y="131392"/>
                    </a:cubicBezTo>
                    <a:lnTo>
                      <a:pt x="0" y="131392"/>
                    </a:lnTo>
                    <a:cubicBezTo>
                      <a:pt x="0" y="96545"/>
                      <a:pt x="13843" y="63125"/>
                      <a:pt x="38484" y="38484"/>
                    </a:cubicBezTo>
                    <a:cubicBezTo>
                      <a:pt x="63125" y="13843"/>
                      <a:pt x="96545" y="0"/>
                      <a:pt x="131392" y="0"/>
                    </a:cubicBezTo>
                    <a:close/>
                  </a:path>
                </a:pathLst>
              </a:custGeom>
              <a:solidFill>
                <a:srgbClr val="57B4BA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262785" cy="319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b="true" sz="2799">
                    <a:solidFill>
                      <a:srgbClr val="015551"/>
                    </a:solidFill>
                    <a:latin typeface="Gordita Bold"/>
                    <a:ea typeface="Gordita Bold"/>
                    <a:cs typeface="Gordita Bold"/>
                    <a:sym typeface="Gordita Bold"/>
                  </a:rPr>
                  <a:t>7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737679" y="3846160"/>
              <a:ext cx="5564441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Findings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0" y="5289210"/>
              <a:ext cx="1330348" cy="1330348"/>
              <a:chOff x="0" y="0"/>
              <a:chExt cx="262785" cy="26278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62785" cy="262785"/>
              </a:xfrm>
              <a:custGeom>
                <a:avLst/>
                <a:gdLst/>
                <a:ahLst/>
                <a:cxnLst/>
                <a:rect r="r" b="b" t="t" l="l"/>
                <a:pathLst>
                  <a:path h="262785" w="262785">
                    <a:moveTo>
                      <a:pt x="131392" y="0"/>
                    </a:moveTo>
                    <a:lnTo>
                      <a:pt x="131392" y="0"/>
                    </a:lnTo>
                    <a:cubicBezTo>
                      <a:pt x="166240" y="0"/>
                      <a:pt x="199660" y="13843"/>
                      <a:pt x="224301" y="38484"/>
                    </a:cubicBezTo>
                    <a:cubicBezTo>
                      <a:pt x="248942" y="63125"/>
                      <a:pt x="262785" y="96545"/>
                      <a:pt x="262785" y="131392"/>
                    </a:cubicBezTo>
                    <a:lnTo>
                      <a:pt x="262785" y="131392"/>
                    </a:lnTo>
                    <a:cubicBezTo>
                      <a:pt x="262785" y="166240"/>
                      <a:pt x="248942" y="199660"/>
                      <a:pt x="224301" y="224301"/>
                    </a:cubicBezTo>
                    <a:cubicBezTo>
                      <a:pt x="199660" y="248942"/>
                      <a:pt x="166240" y="262785"/>
                      <a:pt x="131392" y="262785"/>
                    </a:cubicBezTo>
                    <a:lnTo>
                      <a:pt x="131392" y="262785"/>
                    </a:lnTo>
                    <a:cubicBezTo>
                      <a:pt x="96545" y="262785"/>
                      <a:pt x="63125" y="248942"/>
                      <a:pt x="38484" y="224301"/>
                    </a:cubicBezTo>
                    <a:cubicBezTo>
                      <a:pt x="13843" y="199660"/>
                      <a:pt x="0" y="166240"/>
                      <a:pt x="0" y="131392"/>
                    </a:cubicBezTo>
                    <a:lnTo>
                      <a:pt x="0" y="131392"/>
                    </a:lnTo>
                    <a:cubicBezTo>
                      <a:pt x="0" y="96545"/>
                      <a:pt x="13843" y="63125"/>
                      <a:pt x="38484" y="38484"/>
                    </a:cubicBezTo>
                    <a:cubicBezTo>
                      <a:pt x="63125" y="13843"/>
                      <a:pt x="96545" y="0"/>
                      <a:pt x="131392" y="0"/>
                    </a:cubicBezTo>
                    <a:close/>
                  </a:path>
                </a:pathLst>
              </a:custGeom>
              <a:solidFill>
                <a:srgbClr val="57B4BA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262785" cy="319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b="true" sz="2799">
                    <a:solidFill>
                      <a:srgbClr val="015551"/>
                    </a:solidFill>
                    <a:latin typeface="Gordita Bold"/>
                    <a:ea typeface="Gordita Bold"/>
                    <a:cs typeface="Gordita Bold"/>
                    <a:sym typeface="Gordita Bold"/>
                  </a:rPr>
                  <a:t>8</a:t>
                </a: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737679" y="5608309"/>
              <a:ext cx="5564441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Conclusion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-2265984" y="-199264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true" flipV="true" rot="-5400000">
            <a:off x="15280202" y="-96658"/>
            <a:ext cx="2675918" cy="3339679"/>
          </a:xfrm>
          <a:custGeom>
            <a:avLst/>
            <a:gdLst/>
            <a:ahLst/>
            <a:cxnLst/>
            <a:rect r="r" b="b" t="t" l="l"/>
            <a:pathLst>
              <a:path h="3339679" w="2675918">
                <a:moveTo>
                  <a:pt x="2675917" y="3339679"/>
                </a:moveTo>
                <a:lnTo>
                  <a:pt x="0" y="3339679"/>
                </a:lnTo>
                <a:lnTo>
                  <a:pt x="0" y="0"/>
                </a:lnTo>
                <a:lnTo>
                  <a:pt x="2675917" y="0"/>
                </a:lnTo>
                <a:lnTo>
                  <a:pt x="2675917" y="333967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10877106" y="-2373647"/>
            <a:ext cx="4622133" cy="3316380"/>
          </a:xfrm>
          <a:custGeom>
            <a:avLst/>
            <a:gdLst/>
            <a:ahLst/>
            <a:cxnLst/>
            <a:rect r="r" b="b" t="t" l="l"/>
            <a:pathLst>
              <a:path h="3316380" w="4622133">
                <a:moveTo>
                  <a:pt x="0" y="0"/>
                </a:moveTo>
                <a:lnTo>
                  <a:pt x="4622133" y="0"/>
                </a:lnTo>
                <a:lnTo>
                  <a:pt x="4622133" y="3316380"/>
                </a:lnTo>
                <a:lnTo>
                  <a:pt x="0" y="33163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2039166" y="2116247"/>
            <a:ext cx="454615" cy="543013"/>
          </a:xfrm>
          <a:custGeom>
            <a:avLst/>
            <a:gdLst/>
            <a:ahLst/>
            <a:cxnLst/>
            <a:rect r="r" b="b" t="t" l="l"/>
            <a:pathLst>
              <a:path h="543013" w="454615">
                <a:moveTo>
                  <a:pt x="0" y="0"/>
                </a:moveTo>
                <a:lnTo>
                  <a:pt x="454616" y="0"/>
                </a:lnTo>
                <a:lnTo>
                  <a:pt x="454616" y="543013"/>
                </a:lnTo>
                <a:lnTo>
                  <a:pt x="0" y="5430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16059" t="-91472" r="-117240" b="-90387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848816" y="1543667"/>
            <a:ext cx="7333814" cy="12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0"/>
              </a:lnSpc>
            </a:pPr>
            <a:r>
              <a:rPr lang="en-US" sz="8600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Overview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152076" y="3643603"/>
            <a:ext cx="417333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Introduction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152076" y="5005678"/>
            <a:ext cx="417333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Research Questions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152076" y="6288899"/>
            <a:ext cx="417333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Literature Review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152076" y="7610510"/>
            <a:ext cx="417333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Methodology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42635" y="7764952"/>
            <a:ext cx="5044096" cy="5044096"/>
          </a:xfrm>
          <a:custGeom>
            <a:avLst/>
            <a:gdLst/>
            <a:ahLst/>
            <a:cxnLst/>
            <a:rect r="r" b="b" t="t" l="l"/>
            <a:pathLst>
              <a:path h="5044096" w="5044096">
                <a:moveTo>
                  <a:pt x="0" y="0"/>
                </a:moveTo>
                <a:lnTo>
                  <a:pt x="5044096" y="0"/>
                </a:lnTo>
                <a:lnTo>
                  <a:pt x="5044096" y="5044096"/>
                </a:lnTo>
                <a:lnTo>
                  <a:pt x="0" y="5044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350579" y="-1242712"/>
            <a:ext cx="3379280" cy="4114800"/>
          </a:xfrm>
          <a:custGeom>
            <a:avLst/>
            <a:gdLst/>
            <a:ahLst/>
            <a:cxnLst/>
            <a:rect r="r" b="b" t="t" l="l"/>
            <a:pathLst>
              <a:path h="4114800" w="3379280">
                <a:moveTo>
                  <a:pt x="0" y="0"/>
                </a:moveTo>
                <a:lnTo>
                  <a:pt x="3379279" y="0"/>
                </a:lnTo>
                <a:lnTo>
                  <a:pt x="33792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true" rot="0">
            <a:off x="-464115" y="8535762"/>
            <a:ext cx="5150699" cy="1751238"/>
          </a:xfrm>
          <a:custGeom>
            <a:avLst/>
            <a:gdLst/>
            <a:ahLst/>
            <a:cxnLst/>
            <a:rect r="r" b="b" t="t" l="l"/>
            <a:pathLst>
              <a:path h="1751238" w="5150699">
                <a:moveTo>
                  <a:pt x="0" y="1751238"/>
                </a:moveTo>
                <a:lnTo>
                  <a:pt x="5150700" y="1751238"/>
                </a:lnTo>
                <a:lnTo>
                  <a:pt x="5150700" y="0"/>
                </a:lnTo>
                <a:lnTo>
                  <a:pt x="0" y="0"/>
                </a:lnTo>
                <a:lnTo>
                  <a:pt x="0" y="175123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-2700000">
            <a:off x="17145794" y="-2326513"/>
            <a:ext cx="2122680" cy="6963643"/>
            <a:chOff x="0" y="0"/>
            <a:chExt cx="559060" cy="18340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9060" cy="1834046"/>
            </a:xfrm>
            <a:custGeom>
              <a:avLst/>
              <a:gdLst/>
              <a:ahLst/>
              <a:cxnLst/>
              <a:rect r="r" b="b" t="t" l="l"/>
              <a:pathLst>
                <a:path h="1834046" w="559060">
                  <a:moveTo>
                    <a:pt x="0" y="0"/>
                  </a:moveTo>
                  <a:lnTo>
                    <a:pt x="559060" y="0"/>
                  </a:lnTo>
                  <a:lnTo>
                    <a:pt x="559060" y="1834046"/>
                  </a:lnTo>
                  <a:lnTo>
                    <a:pt x="0" y="1834046"/>
                  </a:ln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59060" cy="1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2299294" y="-73978"/>
            <a:ext cx="4369456" cy="1201600"/>
          </a:xfrm>
          <a:custGeom>
            <a:avLst/>
            <a:gdLst/>
            <a:ahLst/>
            <a:cxnLst/>
            <a:rect r="r" b="b" t="t" l="l"/>
            <a:pathLst>
              <a:path h="1201600" w="4369456">
                <a:moveTo>
                  <a:pt x="4369456" y="0"/>
                </a:moveTo>
                <a:lnTo>
                  <a:pt x="0" y="0"/>
                </a:lnTo>
                <a:lnTo>
                  <a:pt x="0" y="1201601"/>
                </a:lnTo>
                <a:lnTo>
                  <a:pt x="4369456" y="1201601"/>
                </a:lnTo>
                <a:lnTo>
                  <a:pt x="436945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2801516">
            <a:off x="-1772806" y="3348338"/>
            <a:ext cx="3876038" cy="3057225"/>
          </a:xfrm>
          <a:custGeom>
            <a:avLst/>
            <a:gdLst/>
            <a:ahLst/>
            <a:cxnLst/>
            <a:rect r="r" b="b" t="t" l="l"/>
            <a:pathLst>
              <a:path h="3057225" w="3876038">
                <a:moveTo>
                  <a:pt x="0" y="0"/>
                </a:moveTo>
                <a:lnTo>
                  <a:pt x="3876038" y="0"/>
                </a:lnTo>
                <a:lnTo>
                  <a:pt x="3876038" y="3057225"/>
                </a:lnTo>
                <a:lnTo>
                  <a:pt x="0" y="30572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957333" y="3469147"/>
            <a:ext cx="3414701" cy="3384822"/>
          </a:xfrm>
          <a:custGeom>
            <a:avLst/>
            <a:gdLst/>
            <a:ahLst/>
            <a:cxnLst/>
            <a:rect r="r" b="b" t="t" l="l"/>
            <a:pathLst>
              <a:path h="3384822" w="3414701">
                <a:moveTo>
                  <a:pt x="0" y="0"/>
                </a:moveTo>
                <a:lnTo>
                  <a:pt x="3414701" y="0"/>
                </a:lnTo>
                <a:lnTo>
                  <a:pt x="3414701" y="3384823"/>
                </a:lnTo>
                <a:lnTo>
                  <a:pt x="0" y="33848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3065862" y="9707440"/>
            <a:ext cx="624049" cy="827926"/>
          </a:xfrm>
          <a:custGeom>
            <a:avLst/>
            <a:gdLst/>
            <a:ahLst/>
            <a:cxnLst/>
            <a:rect r="r" b="b" t="t" l="l"/>
            <a:pathLst>
              <a:path h="827926" w="624049">
                <a:moveTo>
                  <a:pt x="0" y="0"/>
                </a:moveTo>
                <a:lnTo>
                  <a:pt x="624049" y="0"/>
                </a:lnTo>
                <a:lnTo>
                  <a:pt x="624049" y="827925"/>
                </a:lnTo>
                <a:lnTo>
                  <a:pt x="0" y="8279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67816" y="1231508"/>
            <a:ext cx="7843315" cy="126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9"/>
              </a:lnSpc>
            </a:pPr>
            <a:r>
              <a:rPr lang="en-US" sz="8999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Introduction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11235" y="2966253"/>
            <a:ext cx="6408887" cy="21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412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Motivation &amp; Background</a:t>
            </a:r>
          </a:p>
          <a:p>
            <a:pPr algn="l" marL="371347" indent="-185673" lvl="1">
              <a:lnSpc>
                <a:spcPts val="2407"/>
              </a:lnSpc>
              <a:buFont typeface="Arial"/>
              <a:buChar char="•"/>
            </a:pPr>
            <a:r>
              <a:rPr lang="en-US" sz="1719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SQL</a:t>
            </a:r>
            <a:r>
              <a:rPr lang="en-US" sz="1719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 is hard for non-technical users.</a:t>
            </a:r>
          </a:p>
          <a:p>
            <a:pPr algn="l" marL="371347" indent="-185673" lvl="1">
              <a:lnSpc>
                <a:spcPts val="2407"/>
              </a:lnSpc>
              <a:buFont typeface="Arial"/>
              <a:buChar char="•"/>
            </a:pPr>
            <a:r>
              <a:rPr lang="en-US" sz="1719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NLIs allow users to query databases using natural language.</a:t>
            </a:r>
          </a:p>
          <a:p>
            <a:pPr algn="l" marL="371347" indent="-185673" lvl="1">
              <a:lnSpc>
                <a:spcPts val="2407"/>
              </a:lnSpc>
              <a:buFont typeface="Arial"/>
              <a:buChar char="•"/>
            </a:pPr>
            <a:r>
              <a:rPr lang="en-US" sz="1719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Text-to-SQL converts natural language questions into SQL.</a:t>
            </a:r>
          </a:p>
          <a:p>
            <a:pPr algn="l">
              <a:lnSpc>
                <a:spcPts val="240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588146" y="2924575"/>
            <a:ext cx="6203529" cy="241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335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Shift Toward Large Language Models</a:t>
            </a:r>
          </a:p>
          <a:p>
            <a:pPr algn="l" marL="359448" indent="-179724" lvl="1">
              <a:lnSpc>
                <a:spcPts val="2330"/>
              </a:lnSpc>
              <a:buFont typeface="Arial"/>
              <a:buChar char="•"/>
            </a:pPr>
            <a:r>
              <a:rPr lang="en-US" sz="1664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T</a:t>
            </a:r>
            <a:r>
              <a:rPr lang="en-US" sz="1664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raditional Text-to-SQL relies on supervised models requiring costly, large annotated datasets.</a:t>
            </a:r>
          </a:p>
          <a:p>
            <a:pPr algn="l" marL="359448" indent="-179724" lvl="1">
              <a:lnSpc>
                <a:spcPts val="2330"/>
              </a:lnSpc>
              <a:buFont typeface="Arial"/>
              <a:buChar char="•"/>
            </a:pPr>
            <a:r>
              <a:rPr lang="en-US" sz="1664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LLMs reduce this dependency—they can perform tasks through prompting, not task-specific training.</a:t>
            </a:r>
          </a:p>
          <a:p>
            <a:pPr algn="l" marL="359448" indent="-179724" lvl="1">
              <a:lnSpc>
                <a:spcPts val="2330"/>
              </a:lnSpc>
              <a:buFont typeface="Arial"/>
              <a:buChar char="•"/>
            </a:pPr>
            <a:r>
              <a:rPr lang="en-US" sz="1664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This makes development faster, cheaper, and more flexible.</a:t>
            </a:r>
          </a:p>
          <a:p>
            <a:pPr algn="l">
              <a:lnSpc>
                <a:spcPts val="233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255155" y="6315417"/>
            <a:ext cx="7777690" cy="3038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</a:pPr>
            <a:r>
              <a:rPr lang="en-US" sz="2513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Core Challenge: Complex Reasoning</a:t>
            </a:r>
          </a:p>
          <a:p>
            <a:pPr algn="l">
              <a:lnSpc>
                <a:spcPts val="3518"/>
              </a:lnSpc>
            </a:pPr>
          </a:p>
          <a:p>
            <a:pPr algn="l" marL="386774" indent="-193387" lvl="1">
              <a:lnSpc>
                <a:spcPts val="2508"/>
              </a:lnSpc>
              <a:buFont typeface="Arial"/>
              <a:buChar char="•"/>
            </a:pPr>
            <a:r>
              <a:rPr lang="en-US" sz="1791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Many Text-to-SQL queries require multi-step logical reasoning.</a:t>
            </a:r>
          </a:p>
          <a:p>
            <a:pPr algn="l" marL="386774" indent="-193387" lvl="1">
              <a:lnSpc>
                <a:spcPts val="2508"/>
              </a:lnSpc>
              <a:buFont typeface="Arial"/>
              <a:buChar char="•"/>
            </a:pPr>
            <a:r>
              <a:rPr lang="en-US" sz="1791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Chain-of-Thought (CoT) prompting helps break problems into steps, improving performance.</a:t>
            </a:r>
          </a:p>
          <a:p>
            <a:pPr algn="l" marL="386774" indent="-193387" lvl="1">
              <a:lnSpc>
                <a:spcPts val="2508"/>
              </a:lnSpc>
              <a:buFont typeface="Arial"/>
              <a:buChar char="•"/>
            </a:pPr>
            <a:r>
              <a:rPr lang="en-US" sz="1791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But CoT is unstructured, and for highly complex queries it may drift logically, leading to incorrect SQL.</a:t>
            </a:r>
          </a:p>
          <a:p>
            <a:pPr algn="l" marL="386774" indent="-193387" lvl="1">
              <a:lnSpc>
                <a:spcPts val="2508"/>
              </a:lnSpc>
              <a:buFont typeface="Arial"/>
              <a:buChar char="•"/>
            </a:pPr>
            <a:r>
              <a:rPr lang="en-US" sz="1791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In benc</a:t>
            </a:r>
            <a:r>
              <a:rPr lang="en-US" sz="1791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hmarks like Spider, this limitation becomes evident.</a:t>
            </a:r>
          </a:p>
          <a:p>
            <a:pPr algn="l">
              <a:lnSpc>
                <a:spcPts val="250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32021" y="72435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582779" y="3466572"/>
            <a:ext cx="15122720" cy="7470618"/>
            <a:chOff x="0" y="0"/>
            <a:chExt cx="3982939" cy="1967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82939" cy="1967570"/>
            </a:xfrm>
            <a:custGeom>
              <a:avLst/>
              <a:gdLst/>
              <a:ahLst/>
              <a:cxnLst/>
              <a:rect r="r" b="b" t="t" l="l"/>
              <a:pathLst>
                <a:path h="1967570" w="3982939">
                  <a:moveTo>
                    <a:pt x="22525" y="0"/>
                  </a:moveTo>
                  <a:lnTo>
                    <a:pt x="3960413" y="0"/>
                  </a:lnTo>
                  <a:cubicBezTo>
                    <a:pt x="3966387" y="0"/>
                    <a:pt x="3972117" y="2373"/>
                    <a:pt x="3976341" y="6598"/>
                  </a:cubicBezTo>
                  <a:cubicBezTo>
                    <a:pt x="3980566" y="10822"/>
                    <a:pt x="3982939" y="16551"/>
                    <a:pt x="3982939" y="22525"/>
                  </a:cubicBezTo>
                  <a:lnTo>
                    <a:pt x="3982939" y="1945045"/>
                  </a:lnTo>
                  <a:cubicBezTo>
                    <a:pt x="3982939" y="1951019"/>
                    <a:pt x="3980566" y="1956748"/>
                    <a:pt x="3976341" y="1960973"/>
                  </a:cubicBezTo>
                  <a:cubicBezTo>
                    <a:pt x="3972117" y="1965197"/>
                    <a:pt x="3966387" y="1967570"/>
                    <a:pt x="3960413" y="1967570"/>
                  </a:cubicBezTo>
                  <a:lnTo>
                    <a:pt x="22525" y="1967570"/>
                  </a:lnTo>
                  <a:cubicBezTo>
                    <a:pt x="16551" y="1967570"/>
                    <a:pt x="10822" y="1965197"/>
                    <a:pt x="6598" y="1960973"/>
                  </a:cubicBezTo>
                  <a:cubicBezTo>
                    <a:pt x="2373" y="1956748"/>
                    <a:pt x="0" y="1951019"/>
                    <a:pt x="0" y="1945045"/>
                  </a:cubicBezTo>
                  <a:lnTo>
                    <a:pt x="0" y="22525"/>
                  </a:lnTo>
                  <a:cubicBezTo>
                    <a:pt x="0" y="16551"/>
                    <a:pt x="2373" y="10822"/>
                    <a:pt x="6598" y="6598"/>
                  </a:cubicBezTo>
                  <a:cubicBezTo>
                    <a:pt x="10822" y="2373"/>
                    <a:pt x="16551" y="0"/>
                    <a:pt x="22525" y="0"/>
                  </a:cubicBez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982939" cy="1996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522663" y="4145739"/>
            <a:ext cx="997761" cy="997761"/>
            <a:chOff x="0" y="0"/>
            <a:chExt cx="262785" cy="2627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785" cy="262785"/>
            </a:xfrm>
            <a:custGeom>
              <a:avLst/>
              <a:gdLst/>
              <a:ahLst/>
              <a:cxnLst/>
              <a:rect r="r" b="b" t="t" l="l"/>
              <a:pathLst>
                <a:path h="262785" w="262785">
                  <a:moveTo>
                    <a:pt x="131392" y="0"/>
                  </a:moveTo>
                  <a:lnTo>
                    <a:pt x="131392" y="0"/>
                  </a:lnTo>
                  <a:cubicBezTo>
                    <a:pt x="166240" y="0"/>
                    <a:pt x="199660" y="13843"/>
                    <a:pt x="224301" y="38484"/>
                  </a:cubicBezTo>
                  <a:cubicBezTo>
                    <a:pt x="248942" y="63125"/>
                    <a:pt x="262785" y="96545"/>
                    <a:pt x="262785" y="131392"/>
                  </a:cubicBezTo>
                  <a:lnTo>
                    <a:pt x="262785" y="131392"/>
                  </a:lnTo>
                  <a:cubicBezTo>
                    <a:pt x="262785" y="166240"/>
                    <a:pt x="248942" y="199660"/>
                    <a:pt x="224301" y="224301"/>
                  </a:cubicBezTo>
                  <a:cubicBezTo>
                    <a:pt x="199660" y="248942"/>
                    <a:pt x="166240" y="262785"/>
                    <a:pt x="131392" y="262785"/>
                  </a:cubicBezTo>
                  <a:lnTo>
                    <a:pt x="131392" y="262785"/>
                  </a:lnTo>
                  <a:cubicBezTo>
                    <a:pt x="96545" y="262785"/>
                    <a:pt x="63125" y="248942"/>
                    <a:pt x="38484" y="224301"/>
                  </a:cubicBezTo>
                  <a:cubicBezTo>
                    <a:pt x="13843" y="199660"/>
                    <a:pt x="0" y="166240"/>
                    <a:pt x="0" y="131392"/>
                  </a:cubicBezTo>
                  <a:lnTo>
                    <a:pt x="0" y="131392"/>
                  </a:lnTo>
                  <a:cubicBezTo>
                    <a:pt x="0" y="96545"/>
                    <a:pt x="13843" y="63125"/>
                    <a:pt x="38484" y="38484"/>
                  </a:cubicBezTo>
                  <a:cubicBezTo>
                    <a:pt x="63125" y="13843"/>
                    <a:pt x="96545" y="0"/>
                    <a:pt x="131392" y="0"/>
                  </a:cubicBezTo>
                  <a:close/>
                </a:path>
              </a:pathLst>
            </a:custGeom>
            <a:solidFill>
              <a:srgbClr val="57B4B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62785" cy="319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0593" y="4145739"/>
            <a:ext cx="997761" cy="997761"/>
            <a:chOff x="0" y="0"/>
            <a:chExt cx="262785" cy="2627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2785" cy="262785"/>
            </a:xfrm>
            <a:custGeom>
              <a:avLst/>
              <a:gdLst/>
              <a:ahLst/>
              <a:cxnLst/>
              <a:rect r="r" b="b" t="t" l="l"/>
              <a:pathLst>
                <a:path h="262785" w="262785">
                  <a:moveTo>
                    <a:pt x="131392" y="0"/>
                  </a:moveTo>
                  <a:lnTo>
                    <a:pt x="131392" y="0"/>
                  </a:lnTo>
                  <a:cubicBezTo>
                    <a:pt x="166240" y="0"/>
                    <a:pt x="199660" y="13843"/>
                    <a:pt x="224301" y="38484"/>
                  </a:cubicBezTo>
                  <a:cubicBezTo>
                    <a:pt x="248942" y="63125"/>
                    <a:pt x="262785" y="96545"/>
                    <a:pt x="262785" y="131392"/>
                  </a:cubicBezTo>
                  <a:lnTo>
                    <a:pt x="262785" y="131392"/>
                  </a:lnTo>
                  <a:cubicBezTo>
                    <a:pt x="262785" y="166240"/>
                    <a:pt x="248942" y="199660"/>
                    <a:pt x="224301" y="224301"/>
                  </a:cubicBezTo>
                  <a:cubicBezTo>
                    <a:pt x="199660" y="248942"/>
                    <a:pt x="166240" y="262785"/>
                    <a:pt x="131392" y="262785"/>
                  </a:cubicBezTo>
                  <a:lnTo>
                    <a:pt x="131392" y="262785"/>
                  </a:lnTo>
                  <a:cubicBezTo>
                    <a:pt x="96545" y="262785"/>
                    <a:pt x="63125" y="248942"/>
                    <a:pt x="38484" y="224301"/>
                  </a:cubicBezTo>
                  <a:cubicBezTo>
                    <a:pt x="13843" y="199660"/>
                    <a:pt x="0" y="166240"/>
                    <a:pt x="0" y="131392"/>
                  </a:cubicBezTo>
                  <a:lnTo>
                    <a:pt x="0" y="131392"/>
                  </a:lnTo>
                  <a:cubicBezTo>
                    <a:pt x="0" y="96545"/>
                    <a:pt x="13843" y="63125"/>
                    <a:pt x="38484" y="38484"/>
                  </a:cubicBezTo>
                  <a:cubicBezTo>
                    <a:pt x="63125" y="13843"/>
                    <a:pt x="96545" y="0"/>
                    <a:pt x="131392" y="0"/>
                  </a:cubicBezTo>
                  <a:close/>
                </a:path>
              </a:pathLst>
            </a:custGeom>
            <a:solidFill>
              <a:srgbClr val="57B4B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62785" cy="319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65146" y="4145739"/>
            <a:ext cx="997761" cy="997761"/>
            <a:chOff x="0" y="0"/>
            <a:chExt cx="262785" cy="2627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2785" cy="262785"/>
            </a:xfrm>
            <a:custGeom>
              <a:avLst/>
              <a:gdLst/>
              <a:ahLst/>
              <a:cxnLst/>
              <a:rect r="r" b="b" t="t" l="l"/>
              <a:pathLst>
                <a:path h="262785" w="262785">
                  <a:moveTo>
                    <a:pt x="131392" y="0"/>
                  </a:moveTo>
                  <a:lnTo>
                    <a:pt x="131392" y="0"/>
                  </a:lnTo>
                  <a:cubicBezTo>
                    <a:pt x="166240" y="0"/>
                    <a:pt x="199660" y="13843"/>
                    <a:pt x="224301" y="38484"/>
                  </a:cubicBezTo>
                  <a:cubicBezTo>
                    <a:pt x="248942" y="63125"/>
                    <a:pt x="262785" y="96545"/>
                    <a:pt x="262785" y="131392"/>
                  </a:cubicBezTo>
                  <a:lnTo>
                    <a:pt x="262785" y="131392"/>
                  </a:lnTo>
                  <a:cubicBezTo>
                    <a:pt x="262785" y="166240"/>
                    <a:pt x="248942" y="199660"/>
                    <a:pt x="224301" y="224301"/>
                  </a:cubicBezTo>
                  <a:cubicBezTo>
                    <a:pt x="199660" y="248942"/>
                    <a:pt x="166240" y="262785"/>
                    <a:pt x="131392" y="262785"/>
                  </a:cubicBezTo>
                  <a:lnTo>
                    <a:pt x="131392" y="262785"/>
                  </a:lnTo>
                  <a:cubicBezTo>
                    <a:pt x="96545" y="262785"/>
                    <a:pt x="63125" y="248942"/>
                    <a:pt x="38484" y="224301"/>
                  </a:cubicBezTo>
                  <a:cubicBezTo>
                    <a:pt x="13843" y="199660"/>
                    <a:pt x="0" y="166240"/>
                    <a:pt x="0" y="131392"/>
                  </a:cubicBezTo>
                  <a:lnTo>
                    <a:pt x="0" y="131392"/>
                  </a:lnTo>
                  <a:cubicBezTo>
                    <a:pt x="0" y="96545"/>
                    <a:pt x="13843" y="63125"/>
                    <a:pt x="38484" y="38484"/>
                  </a:cubicBezTo>
                  <a:cubicBezTo>
                    <a:pt x="63125" y="13843"/>
                    <a:pt x="96545" y="0"/>
                    <a:pt x="131392" y="0"/>
                  </a:cubicBezTo>
                  <a:close/>
                </a:path>
              </a:pathLst>
            </a:custGeom>
            <a:solidFill>
              <a:srgbClr val="57B4B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62785" cy="319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3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764108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-1768630" y="-372483"/>
            <a:ext cx="6302768" cy="2142941"/>
          </a:xfrm>
          <a:custGeom>
            <a:avLst/>
            <a:gdLst/>
            <a:ahLst/>
            <a:cxnLst/>
            <a:rect r="r" b="b" t="t" l="l"/>
            <a:pathLst>
              <a:path h="2142941" w="6302768">
                <a:moveTo>
                  <a:pt x="0" y="0"/>
                </a:moveTo>
                <a:lnTo>
                  <a:pt x="6302769" y="0"/>
                </a:lnTo>
                <a:lnTo>
                  <a:pt x="6302769" y="2142941"/>
                </a:lnTo>
                <a:lnTo>
                  <a:pt x="0" y="2142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6705499" y="749882"/>
            <a:ext cx="3802237" cy="3894737"/>
          </a:xfrm>
          <a:custGeom>
            <a:avLst/>
            <a:gdLst/>
            <a:ahLst/>
            <a:cxnLst/>
            <a:rect r="r" b="b" t="t" l="l"/>
            <a:pathLst>
              <a:path h="3894737" w="3802237">
                <a:moveTo>
                  <a:pt x="0" y="0"/>
                </a:moveTo>
                <a:lnTo>
                  <a:pt x="3802238" y="0"/>
                </a:lnTo>
                <a:lnTo>
                  <a:pt x="3802238" y="3894737"/>
                </a:lnTo>
                <a:lnTo>
                  <a:pt x="0" y="38947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3430707" y="457200"/>
            <a:ext cx="549752" cy="555305"/>
          </a:xfrm>
          <a:custGeom>
            <a:avLst/>
            <a:gdLst/>
            <a:ahLst/>
            <a:cxnLst/>
            <a:rect r="r" b="b" t="t" l="l"/>
            <a:pathLst>
              <a:path h="555305" w="549752">
                <a:moveTo>
                  <a:pt x="0" y="0"/>
                </a:moveTo>
                <a:lnTo>
                  <a:pt x="549752" y="0"/>
                </a:lnTo>
                <a:lnTo>
                  <a:pt x="549752" y="555305"/>
                </a:lnTo>
                <a:lnTo>
                  <a:pt x="0" y="5553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848816" y="1449910"/>
            <a:ext cx="11856767" cy="12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0"/>
              </a:lnSpc>
            </a:pPr>
            <a:r>
              <a:rPr lang="en-US" sz="8600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Research Questions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22663" y="6173567"/>
            <a:ext cx="3898962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Can Structured Chain-of-Thought prompting directly improve large language models’ accuracy and reasoning in generating SQL queries?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94658" y="6173567"/>
            <a:ext cx="3898962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Does enforcing a structured reasoning format (SCoT) lead to higher exact match accuracy in Text-to-SQL generation compared to unstructured Chain-of-Thought (CoT)?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65146" y="6173567"/>
            <a:ext cx="3898962" cy="280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Howdoestheperformance of SCoT compare against other advanced prompting techniques, including Question Decomposition (QDecomp), across a variety of modern Large Language Models?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22663" y="5458760"/>
            <a:ext cx="389896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RQ1: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94658" y="5458760"/>
            <a:ext cx="389896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 RQ2: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65146" y="5458760"/>
            <a:ext cx="389896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RQ3: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2779" y="4472623"/>
            <a:ext cx="7307653" cy="6493761"/>
            <a:chOff x="0" y="0"/>
            <a:chExt cx="1924649" cy="17102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4649" cy="1710291"/>
            </a:xfrm>
            <a:custGeom>
              <a:avLst/>
              <a:gdLst/>
              <a:ahLst/>
              <a:cxnLst/>
              <a:rect r="r" b="b" t="t" l="l"/>
              <a:pathLst>
                <a:path h="1710291" w="1924649">
                  <a:moveTo>
                    <a:pt x="46615" y="0"/>
                  </a:moveTo>
                  <a:lnTo>
                    <a:pt x="1878035" y="0"/>
                  </a:lnTo>
                  <a:cubicBezTo>
                    <a:pt x="1903779" y="0"/>
                    <a:pt x="1924649" y="20870"/>
                    <a:pt x="1924649" y="46615"/>
                  </a:cubicBezTo>
                  <a:lnTo>
                    <a:pt x="1924649" y="1663676"/>
                  </a:lnTo>
                  <a:cubicBezTo>
                    <a:pt x="1924649" y="1689421"/>
                    <a:pt x="1903779" y="1710291"/>
                    <a:pt x="1878035" y="1710291"/>
                  </a:cubicBezTo>
                  <a:lnTo>
                    <a:pt x="46615" y="1710291"/>
                  </a:lnTo>
                  <a:cubicBezTo>
                    <a:pt x="20870" y="1710291"/>
                    <a:pt x="0" y="1689421"/>
                    <a:pt x="0" y="1663676"/>
                  </a:cubicBezTo>
                  <a:lnTo>
                    <a:pt x="0" y="46615"/>
                  </a:lnTo>
                  <a:cubicBezTo>
                    <a:pt x="0" y="20870"/>
                    <a:pt x="20870" y="0"/>
                    <a:pt x="46615" y="0"/>
                  </a:cubicBez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24649" cy="1738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34475" y="4472623"/>
            <a:ext cx="7307653" cy="6493761"/>
            <a:chOff x="0" y="0"/>
            <a:chExt cx="1924649" cy="17102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4649" cy="1710291"/>
            </a:xfrm>
            <a:custGeom>
              <a:avLst/>
              <a:gdLst/>
              <a:ahLst/>
              <a:cxnLst/>
              <a:rect r="r" b="b" t="t" l="l"/>
              <a:pathLst>
                <a:path h="1710291" w="1924649">
                  <a:moveTo>
                    <a:pt x="46615" y="0"/>
                  </a:moveTo>
                  <a:lnTo>
                    <a:pt x="1878035" y="0"/>
                  </a:lnTo>
                  <a:cubicBezTo>
                    <a:pt x="1903779" y="0"/>
                    <a:pt x="1924649" y="20870"/>
                    <a:pt x="1924649" y="46615"/>
                  </a:cubicBezTo>
                  <a:lnTo>
                    <a:pt x="1924649" y="1663676"/>
                  </a:lnTo>
                  <a:cubicBezTo>
                    <a:pt x="1924649" y="1689421"/>
                    <a:pt x="1903779" y="1710291"/>
                    <a:pt x="1878035" y="1710291"/>
                  </a:cubicBezTo>
                  <a:lnTo>
                    <a:pt x="46615" y="1710291"/>
                  </a:lnTo>
                  <a:cubicBezTo>
                    <a:pt x="20870" y="1710291"/>
                    <a:pt x="0" y="1689421"/>
                    <a:pt x="0" y="1663676"/>
                  </a:cubicBezTo>
                  <a:lnTo>
                    <a:pt x="0" y="46615"/>
                  </a:lnTo>
                  <a:cubicBezTo>
                    <a:pt x="0" y="20870"/>
                    <a:pt x="20870" y="0"/>
                    <a:pt x="46615" y="0"/>
                  </a:cubicBez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924649" cy="1738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37725" y="5042080"/>
            <a:ext cx="997761" cy="997761"/>
            <a:chOff x="0" y="0"/>
            <a:chExt cx="262785" cy="2627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2785" cy="262785"/>
            </a:xfrm>
            <a:custGeom>
              <a:avLst/>
              <a:gdLst/>
              <a:ahLst/>
              <a:cxnLst/>
              <a:rect r="r" b="b" t="t" l="l"/>
              <a:pathLst>
                <a:path h="262785" w="262785">
                  <a:moveTo>
                    <a:pt x="131392" y="0"/>
                  </a:moveTo>
                  <a:lnTo>
                    <a:pt x="131392" y="0"/>
                  </a:lnTo>
                  <a:cubicBezTo>
                    <a:pt x="166240" y="0"/>
                    <a:pt x="199660" y="13843"/>
                    <a:pt x="224301" y="38484"/>
                  </a:cubicBezTo>
                  <a:cubicBezTo>
                    <a:pt x="248942" y="63125"/>
                    <a:pt x="262785" y="96545"/>
                    <a:pt x="262785" y="131392"/>
                  </a:cubicBezTo>
                  <a:lnTo>
                    <a:pt x="262785" y="131392"/>
                  </a:lnTo>
                  <a:cubicBezTo>
                    <a:pt x="262785" y="166240"/>
                    <a:pt x="248942" y="199660"/>
                    <a:pt x="224301" y="224301"/>
                  </a:cubicBezTo>
                  <a:cubicBezTo>
                    <a:pt x="199660" y="248942"/>
                    <a:pt x="166240" y="262785"/>
                    <a:pt x="131392" y="262785"/>
                  </a:cubicBezTo>
                  <a:lnTo>
                    <a:pt x="131392" y="262785"/>
                  </a:lnTo>
                  <a:cubicBezTo>
                    <a:pt x="96545" y="262785"/>
                    <a:pt x="63125" y="248942"/>
                    <a:pt x="38484" y="224301"/>
                  </a:cubicBezTo>
                  <a:cubicBezTo>
                    <a:pt x="13843" y="199660"/>
                    <a:pt x="0" y="166240"/>
                    <a:pt x="0" y="131392"/>
                  </a:cubicBezTo>
                  <a:lnTo>
                    <a:pt x="0" y="131392"/>
                  </a:lnTo>
                  <a:cubicBezTo>
                    <a:pt x="0" y="96545"/>
                    <a:pt x="13843" y="63125"/>
                    <a:pt x="38484" y="38484"/>
                  </a:cubicBezTo>
                  <a:cubicBezTo>
                    <a:pt x="63125" y="13843"/>
                    <a:pt x="96545" y="0"/>
                    <a:pt x="131392" y="0"/>
                  </a:cubicBezTo>
                  <a:close/>
                </a:path>
              </a:pathLst>
            </a:custGeom>
            <a:solidFill>
              <a:srgbClr val="57B4B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62785" cy="319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89421" y="5042080"/>
            <a:ext cx="997761" cy="997761"/>
            <a:chOff x="0" y="0"/>
            <a:chExt cx="262785" cy="2627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2785" cy="262785"/>
            </a:xfrm>
            <a:custGeom>
              <a:avLst/>
              <a:gdLst/>
              <a:ahLst/>
              <a:cxnLst/>
              <a:rect r="r" b="b" t="t" l="l"/>
              <a:pathLst>
                <a:path h="262785" w="262785">
                  <a:moveTo>
                    <a:pt x="131392" y="0"/>
                  </a:moveTo>
                  <a:lnTo>
                    <a:pt x="131392" y="0"/>
                  </a:lnTo>
                  <a:cubicBezTo>
                    <a:pt x="166240" y="0"/>
                    <a:pt x="199660" y="13843"/>
                    <a:pt x="224301" y="38484"/>
                  </a:cubicBezTo>
                  <a:cubicBezTo>
                    <a:pt x="248942" y="63125"/>
                    <a:pt x="262785" y="96545"/>
                    <a:pt x="262785" y="131392"/>
                  </a:cubicBezTo>
                  <a:lnTo>
                    <a:pt x="262785" y="131392"/>
                  </a:lnTo>
                  <a:cubicBezTo>
                    <a:pt x="262785" y="166240"/>
                    <a:pt x="248942" y="199660"/>
                    <a:pt x="224301" y="224301"/>
                  </a:cubicBezTo>
                  <a:cubicBezTo>
                    <a:pt x="199660" y="248942"/>
                    <a:pt x="166240" y="262785"/>
                    <a:pt x="131392" y="262785"/>
                  </a:cubicBezTo>
                  <a:lnTo>
                    <a:pt x="131392" y="262785"/>
                  </a:lnTo>
                  <a:cubicBezTo>
                    <a:pt x="96545" y="262785"/>
                    <a:pt x="63125" y="248942"/>
                    <a:pt x="38484" y="224301"/>
                  </a:cubicBezTo>
                  <a:cubicBezTo>
                    <a:pt x="13843" y="199660"/>
                    <a:pt x="0" y="166240"/>
                    <a:pt x="0" y="131392"/>
                  </a:cubicBezTo>
                  <a:lnTo>
                    <a:pt x="0" y="131392"/>
                  </a:lnTo>
                  <a:cubicBezTo>
                    <a:pt x="0" y="96545"/>
                    <a:pt x="13843" y="63125"/>
                    <a:pt x="38484" y="38484"/>
                  </a:cubicBezTo>
                  <a:cubicBezTo>
                    <a:pt x="63125" y="13843"/>
                    <a:pt x="96545" y="0"/>
                    <a:pt x="131392" y="0"/>
                  </a:cubicBezTo>
                  <a:close/>
                </a:path>
              </a:pathLst>
            </a:custGeom>
            <a:solidFill>
              <a:srgbClr val="57B4B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62785" cy="319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2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442128" y="771950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-2532021" y="-139573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-2700000">
            <a:off x="17145794" y="-2326513"/>
            <a:ext cx="2122680" cy="6963643"/>
            <a:chOff x="0" y="0"/>
            <a:chExt cx="559060" cy="183404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9060" cy="1834046"/>
            </a:xfrm>
            <a:custGeom>
              <a:avLst/>
              <a:gdLst/>
              <a:ahLst/>
              <a:cxnLst/>
              <a:rect r="r" b="b" t="t" l="l"/>
              <a:pathLst>
                <a:path h="1834046" w="559060">
                  <a:moveTo>
                    <a:pt x="0" y="0"/>
                  </a:moveTo>
                  <a:lnTo>
                    <a:pt x="559060" y="0"/>
                  </a:lnTo>
                  <a:lnTo>
                    <a:pt x="559060" y="1834046"/>
                  </a:lnTo>
                  <a:lnTo>
                    <a:pt x="0" y="1834046"/>
                  </a:ln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559060" cy="1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5400000">
            <a:off x="14837031" y="2967398"/>
            <a:ext cx="5150699" cy="1751238"/>
          </a:xfrm>
          <a:custGeom>
            <a:avLst/>
            <a:gdLst/>
            <a:ahLst/>
            <a:cxnLst/>
            <a:rect r="r" b="b" t="t" l="l"/>
            <a:pathLst>
              <a:path h="1751238" w="5150699">
                <a:moveTo>
                  <a:pt x="0" y="0"/>
                </a:moveTo>
                <a:lnTo>
                  <a:pt x="5150700" y="0"/>
                </a:lnTo>
                <a:lnTo>
                  <a:pt x="5150700" y="1751238"/>
                </a:lnTo>
                <a:lnTo>
                  <a:pt x="0" y="1751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-2532021" y="2544607"/>
            <a:ext cx="3793397" cy="3646402"/>
          </a:xfrm>
          <a:custGeom>
            <a:avLst/>
            <a:gdLst/>
            <a:ahLst/>
            <a:cxnLst/>
            <a:rect r="r" b="b" t="t" l="l"/>
            <a:pathLst>
              <a:path h="3646402" w="3793397">
                <a:moveTo>
                  <a:pt x="0" y="0"/>
                </a:moveTo>
                <a:lnTo>
                  <a:pt x="3793397" y="0"/>
                </a:lnTo>
                <a:lnTo>
                  <a:pt x="3793397" y="3646403"/>
                </a:lnTo>
                <a:lnTo>
                  <a:pt x="0" y="36464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2820896" y="442445"/>
            <a:ext cx="435710" cy="438450"/>
          </a:xfrm>
          <a:custGeom>
            <a:avLst/>
            <a:gdLst/>
            <a:ahLst/>
            <a:cxnLst/>
            <a:rect r="r" b="b" t="t" l="l"/>
            <a:pathLst>
              <a:path h="438450" w="435710">
                <a:moveTo>
                  <a:pt x="0" y="0"/>
                </a:moveTo>
                <a:lnTo>
                  <a:pt x="435709" y="0"/>
                </a:lnTo>
                <a:lnTo>
                  <a:pt x="435709" y="438450"/>
                </a:lnTo>
                <a:lnTo>
                  <a:pt x="0" y="4384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848187" y="1485900"/>
            <a:ext cx="10763555" cy="12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0"/>
              </a:lnSpc>
            </a:pPr>
            <a:r>
              <a:rPr lang="en-US" sz="8600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Literature Review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20896" y="3195002"/>
            <a:ext cx="12646209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This chapter reviews prior work on Text-to-SQL, large language models, and prompting-based reasoning methods, and positions our proposed SCoT approach within this landscape.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41333" y="7085548"/>
            <a:ext cx="5990545" cy="282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Early semantic parsing on small, single-domain datasets (e.g., GEOQUERY).</a:t>
            </a:r>
          </a:p>
          <a:p>
            <a:pPr algn="ctr">
              <a:lnSpc>
                <a:spcPts val="2520"/>
              </a:lnSpc>
            </a:pPr>
          </a:p>
          <a:p>
            <a:pPr algn="ctr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Spider benchmark introduced cross-domain, multi-table, complex SQL queries.</a:t>
            </a:r>
          </a:p>
          <a:p>
            <a:pPr algn="ctr">
              <a:lnSpc>
                <a:spcPts val="2520"/>
              </a:lnSpc>
            </a:pPr>
          </a:p>
          <a:p>
            <a:pPr algn="ctr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LLMs with in-context learning enable few/zero-shot Text-to-SQL.</a:t>
            </a:r>
          </a:p>
          <a:p>
            <a:pPr algn="ctr">
              <a:lnSpc>
                <a:spcPts val="252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793029" y="7095073"/>
            <a:ext cx="5990545" cy="302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CoT helps reasoning but can propagate early SQL clause errors.</a:t>
            </a:r>
          </a:p>
          <a:p>
            <a:pPr algn="ctr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QDecomp and QDecomp+InterCOL use higher-level sub-questions with schema grounding.</a:t>
            </a:r>
          </a:p>
          <a:p>
            <a:pPr algn="ctr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They outperform standard prompting and CoT on Spider benchmarks.</a:t>
            </a:r>
          </a:p>
          <a:p>
            <a:pPr algn="ctr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Reasoning steps are still unstructured text → ambiguity remains.</a:t>
            </a:r>
          </a:p>
          <a:p>
            <a:pPr algn="ctr" marL="345443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This motivates our Structured Chain-of-Thought (SCoT) method.</a:t>
            </a:r>
          </a:p>
          <a:p>
            <a:pPr algn="ctr">
              <a:lnSpc>
                <a:spcPts val="224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2241333" y="6370741"/>
            <a:ext cx="599054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Literary review 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93029" y="6370741"/>
            <a:ext cx="599054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Literary review 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30175" y="8369165"/>
            <a:ext cx="5127726" cy="4313699"/>
          </a:xfrm>
          <a:custGeom>
            <a:avLst/>
            <a:gdLst/>
            <a:ahLst/>
            <a:cxnLst/>
            <a:rect r="r" b="b" t="t" l="l"/>
            <a:pathLst>
              <a:path h="4313699" w="5127726">
                <a:moveTo>
                  <a:pt x="0" y="0"/>
                </a:moveTo>
                <a:lnTo>
                  <a:pt x="5127725" y="0"/>
                </a:lnTo>
                <a:lnTo>
                  <a:pt x="5127725" y="4313699"/>
                </a:lnTo>
                <a:lnTo>
                  <a:pt x="0" y="4313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741571" y="747927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442906" y="-1965019"/>
            <a:ext cx="4591130" cy="4114800"/>
          </a:xfrm>
          <a:custGeom>
            <a:avLst/>
            <a:gdLst/>
            <a:ahLst/>
            <a:cxnLst/>
            <a:rect r="r" b="b" t="t" l="l"/>
            <a:pathLst>
              <a:path h="4114800" w="4591130">
                <a:moveTo>
                  <a:pt x="0" y="0"/>
                </a:moveTo>
                <a:lnTo>
                  <a:pt x="4591130" y="0"/>
                </a:lnTo>
                <a:lnTo>
                  <a:pt x="45911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13291522" y="9395223"/>
            <a:ext cx="6302768" cy="2142941"/>
          </a:xfrm>
          <a:custGeom>
            <a:avLst/>
            <a:gdLst/>
            <a:ahLst/>
            <a:cxnLst/>
            <a:rect r="r" b="b" t="t" l="l"/>
            <a:pathLst>
              <a:path h="2142941" w="6302768">
                <a:moveTo>
                  <a:pt x="6302768" y="0"/>
                </a:moveTo>
                <a:lnTo>
                  <a:pt x="0" y="0"/>
                </a:lnTo>
                <a:lnTo>
                  <a:pt x="0" y="2142942"/>
                </a:lnTo>
                <a:lnTo>
                  <a:pt x="6302768" y="2142942"/>
                </a:lnTo>
                <a:lnTo>
                  <a:pt x="630276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899944" y="563213"/>
            <a:ext cx="465487" cy="465487"/>
          </a:xfrm>
          <a:custGeom>
            <a:avLst/>
            <a:gdLst/>
            <a:ahLst/>
            <a:cxnLst/>
            <a:rect r="r" b="b" t="t" l="l"/>
            <a:pathLst>
              <a:path h="465487" w="465487">
                <a:moveTo>
                  <a:pt x="0" y="0"/>
                </a:moveTo>
                <a:lnTo>
                  <a:pt x="465487" y="0"/>
                </a:lnTo>
                <a:lnTo>
                  <a:pt x="465487" y="465487"/>
                </a:lnTo>
                <a:lnTo>
                  <a:pt x="0" y="4654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9479" y="1161721"/>
            <a:ext cx="8797735" cy="12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0"/>
              </a:lnSpc>
            </a:pPr>
            <a:r>
              <a:rPr lang="en-US" sz="8600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Methodology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849479" y="2636290"/>
            <a:ext cx="739869" cy="739869"/>
            <a:chOff x="0" y="0"/>
            <a:chExt cx="194863" cy="1948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863" cy="194863"/>
            </a:xfrm>
            <a:custGeom>
              <a:avLst/>
              <a:gdLst/>
              <a:ahLst/>
              <a:cxnLst/>
              <a:rect r="r" b="b" t="t" l="l"/>
              <a:pathLst>
                <a:path h="194863" w="194863">
                  <a:moveTo>
                    <a:pt x="97431" y="0"/>
                  </a:moveTo>
                  <a:lnTo>
                    <a:pt x="97431" y="0"/>
                  </a:lnTo>
                  <a:cubicBezTo>
                    <a:pt x="123272" y="0"/>
                    <a:pt x="148054" y="10265"/>
                    <a:pt x="166326" y="28537"/>
                  </a:cubicBezTo>
                  <a:cubicBezTo>
                    <a:pt x="184597" y="46809"/>
                    <a:pt x="194863" y="71591"/>
                    <a:pt x="194863" y="97431"/>
                  </a:cubicBezTo>
                  <a:lnTo>
                    <a:pt x="194863" y="97431"/>
                  </a:lnTo>
                  <a:cubicBezTo>
                    <a:pt x="194863" y="123272"/>
                    <a:pt x="184597" y="148054"/>
                    <a:pt x="166326" y="166326"/>
                  </a:cubicBezTo>
                  <a:cubicBezTo>
                    <a:pt x="148054" y="184597"/>
                    <a:pt x="123272" y="194863"/>
                    <a:pt x="97431" y="194863"/>
                  </a:cubicBezTo>
                  <a:lnTo>
                    <a:pt x="97431" y="194863"/>
                  </a:lnTo>
                  <a:cubicBezTo>
                    <a:pt x="71591" y="194863"/>
                    <a:pt x="46809" y="184597"/>
                    <a:pt x="28537" y="166326"/>
                  </a:cubicBezTo>
                  <a:cubicBezTo>
                    <a:pt x="10265" y="148054"/>
                    <a:pt x="0" y="123272"/>
                    <a:pt x="0" y="97431"/>
                  </a:cubicBezTo>
                  <a:lnTo>
                    <a:pt x="0" y="97431"/>
                  </a:lnTo>
                  <a:cubicBezTo>
                    <a:pt x="0" y="71591"/>
                    <a:pt x="10265" y="46809"/>
                    <a:pt x="28537" y="28537"/>
                  </a:cubicBezTo>
                  <a:cubicBezTo>
                    <a:pt x="46809" y="10265"/>
                    <a:pt x="71591" y="0"/>
                    <a:pt x="97431" y="0"/>
                  </a:cubicBezTo>
                  <a:close/>
                </a:path>
              </a:pathLst>
            </a:custGeom>
            <a:solidFill>
              <a:srgbClr val="57B4B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94863" cy="252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861356" y="2682103"/>
            <a:ext cx="13737637" cy="779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Datasets: </a:t>
            </a:r>
            <a:r>
              <a:rPr lang="en-US" sz="2299">
                <a:solidFill>
                  <a:srgbClr val="000000"/>
                </a:solidFill>
                <a:latin typeface="Gordita"/>
                <a:ea typeface="Gordita"/>
                <a:cs typeface="Gordita"/>
                <a:sym typeface="Gordita"/>
              </a:rPr>
              <a:t>Spider benchmark subsets (dev_600 for Gemini 1.5 Pro, dev_500 for GPT-4o-mini); human-readable schema format with PK/FK.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849479" y="3957184"/>
            <a:ext cx="13432643" cy="811013"/>
            <a:chOff x="0" y="0"/>
            <a:chExt cx="17910190" cy="108135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86491" cy="986491"/>
              <a:chOff x="0" y="0"/>
              <a:chExt cx="194863" cy="19486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4863" cy="194863"/>
              </a:xfrm>
              <a:custGeom>
                <a:avLst/>
                <a:gdLst/>
                <a:ahLst/>
                <a:cxnLst/>
                <a:rect r="r" b="b" t="t" l="l"/>
                <a:pathLst>
                  <a:path h="194863" w="194863">
                    <a:moveTo>
                      <a:pt x="97431" y="0"/>
                    </a:moveTo>
                    <a:lnTo>
                      <a:pt x="97431" y="0"/>
                    </a:lnTo>
                    <a:cubicBezTo>
                      <a:pt x="123272" y="0"/>
                      <a:pt x="148054" y="10265"/>
                      <a:pt x="166326" y="28537"/>
                    </a:cubicBezTo>
                    <a:cubicBezTo>
                      <a:pt x="184597" y="46809"/>
                      <a:pt x="194863" y="71591"/>
                      <a:pt x="194863" y="97431"/>
                    </a:cubicBezTo>
                    <a:lnTo>
                      <a:pt x="194863" y="97431"/>
                    </a:lnTo>
                    <a:cubicBezTo>
                      <a:pt x="194863" y="123272"/>
                      <a:pt x="184597" y="148054"/>
                      <a:pt x="166326" y="166326"/>
                    </a:cubicBezTo>
                    <a:cubicBezTo>
                      <a:pt x="148054" y="184597"/>
                      <a:pt x="123272" y="194863"/>
                      <a:pt x="97431" y="194863"/>
                    </a:cubicBezTo>
                    <a:lnTo>
                      <a:pt x="97431" y="194863"/>
                    </a:lnTo>
                    <a:cubicBezTo>
                      <a:pt x="71591" y="194863"/>
                      <a:pt x="46809" y="184597"/>
                      <a:pt x="28537" y="166326"/>
                    </a:cubicBezTo>
                    <a:cubicBezTo>
                      <a:pt x="10265" y="148054"/>
                      <a:pt x="0" y="123272"/>
                      <a:pt x="0" y="97431"/>
                    </a:cubicBezTo>
                    <a:lnTo>
                      <a:pt x="0" y="97431"/>
                    </a:lnTo>
                    <a:cubicBezTo>
                      <a:pt x="0" y="71591"/>
                      <a:pt x="10265" y="46809"/>
                      <a:pt x="28537" y="28537"/>
                    </a:cubicBezTo>
                    <a:cubicBezTo>
                      <a:pt x="46809" y="10265"/>
                      <a:pt x="71591" y="0"/>
                      <a:pt x="97431" y="0"/>
                    </a:cubicBezTo>
                    <a:close/>
                  </a:path>
                </a:pathLst>
              </a:custGeom>
              <a:solidFill>
                <a:srgbClr val="57B4BA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57150"/>
                <a:ext cx="194863" cy="252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b="true" sz="2799">
                    <a:solidFill>
                      <a:srgbClr val="015551"/>
                    </a:solidFill>
                    <a:latin typeface="Gordita Bold"/>
                    <a:ea typeface="Gordita Bold"/>
                    <a:cs typeface="Gordita Bold"/>
                    <a:sym typeface="Gordita Bold"/>
                  </a:rPr>
                  <a:t>2</a:t>
                </a: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465452" y="54343"/>
              <a:ext cx="16444738" cy="1027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2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B</a:t>
              </a:r>
              <a:r>
                <a:rPr lang="en-US" b="true" sz="22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aselines: </a:t>
              </a:r>
              <a:r>
                <a:rPr lang="en-US" sz="229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Standard (direct SQL), CoT (step-by-step reasoning), QDecomp (question decomposition), QDecomp_InterCol (with PK/FK grounding).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49479" y="5406372"/>
            <a:ext cx="13862197" cy="875163"/>
            <a:chOff x="0" y="0"/>
            <a:chExt cx="18482930" cy="116688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86491" cy="986491"/>
              <a:chOff x="0" y="0"/>
              <a:chExt cx="194863" cy="19486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4863" cy="194863"/>
              </a:xfrm>
              <a:custGeom>
                <a:avLst/>
                <a:gdLst/>
                <a:ahLst/>
                <a:cxnLst/>
                <a:rect r="r" b="b" t="t" l="l"/>
                <a:pathLst>
                  <a:path h="194863" w="194863">
                    <a:moveTo>
                      <a:pt x="97431" y="0"/>
                    </a:moveTo>
                    <a:lnTo>
                      <a:pt x="97431" y="0"/>
                    </a:lnTo>
                    <a:cubicBezTo>
                      <a:pt x="123272" y="0"/>
                      <a:pt x="148054" y="10265"/>
                      <a:pt x="166326" y="28537"/>
                    </a:cubicBezTo>
                    <a:cubicBezTo>
                      <a:pt x="184597" y="46809"/>
                      <a:pt x="194863" y="71591"/>
                      <a:pt x="194863" y="97431"/>
                    </a:cubicBezTo>
                    <a:lnTo>
                      <a:pt x="194863" y="97431"/>
                    </a:lnTo>
                    <a:cubicBezTo>
                      <a:pt x="194863" y="123272"/>
                      <a:pt x="184597" y="148054"/>
                      <a:pt x="166326" y="166326"/>
                    </a:cubicBezTo>
                    <a:cubicBezTo>
                      <a:pt x="148054" y="184597"/>
                      <a:pt x="123272" y="194863"/>
                      <a:pt x="97431" y="194863"/>
                    </a:cubicBezTo>
                    <a:lnTo>
                      <a:pt x="97431" y="194863"/>
                    </a:lnTo>
                    <a:cubicBezTo>
                      <a:pt x="71591" y="194863"/>
                      <a:pt x="46809" y="184597"/>
                      <a:pt x="28537" y="166326"/>
                    </a:cubicBezTo>
                    <a:cubicBezTo>
                      <a:pt x="10265" y="148054"/>
                      <a:pt x="0" y="123272"/>
                      <a:pt x="0" y="97431"/>
                    </a:cubicBezTo>
                    <a:lnTo>
                      <a:pt x="0" y="97431"/>
                    </a:lnTo>
                    <a:cubicBezTo>
                      <a:pt x="0" y="71591"/>
                      <a:pt x="10265" y="46809"/>
                      <a:pt x="28537" y="28537"/>
                    </a:cubicBezTo>
                    <a:cubicBezTo>
                      <a:pt x="46809" y="10265"/>
                      <a:pt x="71591" y="0"/>
                      <a:pt x="97431" y="0"/>
                    </a:cubicBezTo>
                    <a:close/>
                  </a:path>
                </a:pathLst>
              </a:custGeom>
              <a:solidFill>
                <a:srgbClr val="57B4B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194863" cy="252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b="true" sz="2799">
                    <a:solidFill>
                      <a:srgbClr val="015551"/>
                    </a:solidFill>
                    <a:latin typeface="Gordita Bold"/>
                    <a:ea typeface="Gordita Bold"/>
                    <a:cs typeface="Gordita Bold"/>
                    <a:sym typeface="Gordita Bold"/>
                  </a:rPr>
                  <a:t>3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465096" y="139877"/>
              <a:ext cx="17017833" cy="1027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2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SCoT Stages: </a:t>
              </a:r>
              <a:r>
                <a:rPr lang="en-US" sz="229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Plan generation in JSON, validation (schema/PK-FK paths), pattern-aware candidates (4-7 diverse SQL), sanitization &amp; auto-fixes.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849479" y="6853034"/>
            <a:ext cx="14349595" cy="925303"/>
            <a:chOff x="0" y="0"/>
            <a:chExt cx="19132793" cy="1233737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86491" cy="986491"/>
              <a:chOff x="0" y="0"/>
              <a:chExt cx="194863" cy="19486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4863" cy="194863"/>
              </a:xfrm>
              <a:custGeom>
                <a:avLst/>
                <a:gdLst/>
                <a:ahLst/>
                <a:cxnLst/>
                <a:rect r="r" b="b" t="t" l="l"/>
                <a:pathLst>
                  <a:path h="194863" w="194863">
                    <a:moveTo>
                      <a:pt x="97431" y="0"/>
                    </a:moveTo>
                    <a:lnTo>
                      <a:pt x="97431" y="0"/>
                    </a:lnTo>
                    <a:cubicBezTo>
                      <a:pt x="123272" y="0"/>
                      <a:pt x="148054" y="10265"/>
                      <a:pt x="166326" y="28537"/>
                    </a:cubicBezTo>
                    <a:cubicBezTo>
                      <a:pt x="184597" y="46809"/>
                      <a:pt x="194863" y="71591"/>
                      <a:pt x="194863" y="97431"/>
                    </a:cubicBezTo>
                    <a:lnTo>
                      <a:pt x="194863" y="97431"/>
                    </a:lnTo>
                    <a:cubicBezTo>
                      <a:pt x="194863" y="123272"/>
                      <a:pt x="184597" y="148054"/>
                      <a:pt x="166326" y="166326"/>
                    </a:cubicBezTo>
                    <a:cubicBezTo>
                      <a:pt x="148054" y="184597"/>
                      <a:pt x="123272" y="194863"/>
                      <a:pt x="97431" y="194863"/>
                    </a:cubicBezTo>
                    <a:lnTo>
                      <a:pt x="97431" y="194863"/>
                    </a:lnTo>
                    <a:cubicBezTo>
                      <a:pt x="71591" y="194863"/>
                      <a:pt x="46809" y="184597"/>
                      <a:pt x="28537" y="166326"/>
                    </a:cubicBezTo>
                    <a:cubicBezTo>
                      <a:pt x="10265" y="148054"/>
                      <a:pt x="0" y="123272"/>
                      <a:pt x="0" y="97431"/>
                    </a:cubicBezTo>
                    <a:lnTo>
                      <a:pt x="0" y="97431"/>
                    </a:lnTo>
                    <a:cubicBezTo>
                      <a:pt x="0" y="71591"/>
                      <a:pt x="10265" y="46809"/>
                      <a:pt x="28537" y="28537"/>
                    </a:cubicBezTo>
                    <a:cubicBezTo>
                      <a:pt x="46809" y="10265"/>
                      <a:pt x="71591" y="0"/>
                      <a:pt x="97431" y="0"/>
                    </a:cubicBezTo>
                    <a:close/>
                  </a:path>
                </a:pathLst>
              </a:custGeom>
              <a:solidFill>
                <a:srgbClr val="57B4BA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194863" cy="252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b="true" sz="2799">
                    <a:solidFill>
                      <a:srgbClr val="015551"/>
                    </a:solidFill>
                    <a:latin typeface="Gordita Bold"/>
                    <a:ea typeface="Gordita Bold"/>
                    <a:cs typeface="Gordita Bold"/>
                    <a:sym typeface="Gordita Bold"/>
                  </a:rPr>
                  <a:t>4</a:t>
                </a: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465452" y="206730"/>
              <a:ext cx="17667341" cy="1027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2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SCoT St</a:t>
              </a:r>
              <a:r>
                <a:rPr lang="en-US" b="true" sz="22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ages (cont.): </a:t>
              </a:r>
              <a:r>
                <a:rPr lang="en-US" sz="2299">
                  <a:solidFill>
                    <a:srgbClr val="060605"/>
                  </a:solidFill>
                  <a:latin typeface="Gordita"/>
                  <a:ea typeface="Gordita"/>
                  <a:cs typeface="Gordita"/>
                  <a:sym typeface="Gordita"/>
                </a:rPr>
                <a:t>GROUP BY/HAVING validators, template skeletons, canonicalization, execution-guided ranking with cardinality checks.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49479" y="8215940"/>
            <a:ext cx="14149011" cy="741680"/>
            <a:chOff x="0" y="0"/>
            <a:chExt cx="18865349" cy="988907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986491" cy="986491"/>
              <a:chOff x="0" y="0"/>
              <a:chExt cx="194863" cy="19486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94863" cy="194863"/>
              </a:xfrm>
              <a:custGeom>
                <a:avLst/>
                <a:gdLst/>
                <a:ahLst/>
                <a:cxnLst/>
                <a:rect r="r" b="b" t="t" l="l"/>
                <a:pathLst>
                  <a:path h="194863" w="194863">
                    <a:moveTo>
                      <a:pt x="97431" y="0"/>
                    </a:moveTo>
                    <a:lnTo>
                      <a:pt x="97431" y="0"/>
                    </a:lnTo>
                    <a:cubicBezTo>
                      <a:pt x="123272" y="0"/>
                      <a:pt x="148054" y="10265"/>
                      <a:pt x="166326" y="28537"/>
                    </a:cubicBezTo>
                    <a:cubicBezTo>
                      <a:pt x="184597" y="46809"/>
                      <a:pt x="194863" y="71591"/>
                      <a:pt x="194863" y="97431"/>
                    </a:cubicBezTo>
                    <a:lnTo>
                      <a:pt x="194863" y="97431"/>
                    </a:lnTo>
                    <a:cubicBezTo>
                      <a:pt x="194863" y="123272"/>
                      <a:pt x="184597" y="148054"/>
                      <a:pt x="166326" y="166326"/>
                    </a:cubicBezTo>
                    <a:cubicBezTo>
                      <a:pt x="148054" y="184597"/>
                      <a:pt x="123272" y="194863"/>
                      <a:pt x="97431" y="194863"/>
                    </a:cubicBezTo>
                    <a:lnTo>
                      <a:pt x="97431" y="194863"/>
                    </a:lnTo>
                    <a:cubicBezTo>
                      <a:pt x="71591" y="194863"/>
                      <a:pt x="46809" y="184597"/>
                      <a:pt x="28537" y="166326"/>
                    </a:cubicBezTo>
                    <a:cubicBezTo>
                      <a:pt x="10265" y="148054"/>
                      <a:pt x="0" y="123272"/>
                      <a:pt x="0" y="97431"/>
                    </a:cubicBezTo>
                    <a:lnTo>
                      <a:pt x="0" y="97431"/>
                    </a:lnTo>
                    <a:cubicBezTo>
                      <a:pt x="0" y="71591"/>
                      <a:pt x="10265" y="46809"/>
                      <a:pt x="28537" y="28537"/>
                    </a:cubicBezTo>
                    <a:cubicBezTo>
                      <a:pt x="46809" y="10265"/>
                      <a:pt x="71591" y="0"/>
                      <a:pt x="97431" y="0"/>
                    </a:cubicBezTo>
                    <a:close/>
                  </a:path>
                </a:pathLst>
              </a:custGeom>
              <a:solidFill>
                <a:srgbClr val="57B4BA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194863" cy="252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b="true" sz="2799">
                    <a:solidFill>
                      <a:srgbClr val="015551"/>
                    </a:solidFill>
                    <a:latin typeface="Gordita Bold"/>
                    <a:ea typeface="Gordita Bold"/>
                    <a:cs typeface="Gordita Bold"/>
                    <a:sym typeface="Gordita Bold"/>
                  </a:rPr>
                  <a:t>5</a:t>
                </a: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465452" y="-38100"/>
              <a:ext cx="17399897" cy="1027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2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Pro</a:t>
              </a:r>
              <a:r>
                <a:rPr lang="en-US" b="true" sz="2299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tocol: </a:t>
              </a:r>
              <a:r>
                <a:rPr lang="en-US" sz="2299">
                  <a:solidFill>
                    <a:srgbClr val="000000"/>
                  </a:solidFill>
                  <a:latin typeface="Gordita"/>
                  <a:ea typeface="Gordita"/>
                  <a:cs typeface="Gordita"/>
                  <a:sym typeface="Gordita"/>
                </a:rPr>
                <a:t>SQLite execution environment; hyperparameters (τ=0.0-0.2, max tokens 1024); metrics: Execution Accuracy (EX) for semantic match.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30175" y="8369165"/>
            <a:ext cx="5127726" cy="4313699"/>
          </a:xfrm>
          <a:custGeom>
            <a:avLst/>
            <a:gdLst/>
            <a:ahLst/>
            <a:cxnLst/>
            <a:rect r="r" b="b" t="t" l="l"/>
            <a:pathLst>
              <a:path h="4313699" w="5127726">
                <a:moveTo>
                  <a:pt x="0" y="0"/>
                </a:moveTo>
                <a:lnTo>
                  <a:pt x="5127725" y="0"/>
                </a:lnTo>
                <a:lnTo>
                  <a:pt x="5127725" y="4313699"/>
                </a:lnTo>
                <a:lnTo>
                  <a:pt x="0" y="4313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741571" y="747927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442906" y="-1965019"/>
            <a:ext cx="4591130" cy="4114800"/>
          </a:xfrm>
          <a:custGeom>
            <a:avLst/>
            <a:gdLst/>
            <a:ahLst/>
            <a:cxnLst/>
            <a:rect r="r" b="b" t="t" l="l"/>
            <a:pathLst>
              <a:path h="4114800" w="4591130">
                <a:moveTo>
                  <a:pt x="0" y="0"/>
                </a:moveTo>
                <a:lnTo>
                  <a:pt x="4591130" y="0"/>
                </a:lnTo>
                <a:lnTo>
                  <a:pt x="45911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13291522" y="9395223"/>
            <a:ext cx="6302768" cy="2142941"/>
          </a:xfrm>
          <a:custGeom>
            <a:avLst/>
            <a:gdLst/>
            <a:ahLst/>
            <a:cxnLst/>
            <a:rect r="r" b="b" t="t" l="l"/>
            <a:pathLst>
              <a:path h="2142941" w="6302768">
                <a:moveTo>
                  <a:pt x="6302768" y="0"/>
                </a:moveTo>
                <a:lnTo>
                  <a:pt x="0" y="0"/>
                </a:lnTo>
                <a:lnTo>
                  <a:pt x="0" y="2142942"/>
                </a:lnTo>
                <a:lnTo>
                  <a:pt x="6302768" y="2142942"/>
                </a:lnTo>
                <a:lnTo>
                  <a:pt x="630276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899944" y="563213"/>
            <a:ext cx="465487" cy="465487"/>
          </a:xfrm>
          <a:custGeom>
            <a:avLst/>
            <a:gdLst/>
            <a:ahLst/>
            <a:cxnLst/>
            <a:rect r="r" b="b" t="t" l="l"/>
            <a:pathLst>
              <a:path h="465487" w="465487">
                <a:moveTo>
                  <a:pt x="0" y="0"/>
                </a:moveTo>
                <a:lnTo>
                  <a:pt x="465487" y="0"/>
                </a:lnTo>
                <a:lnTo>
                  <a:pt x="465487" y="465487"/>
                </a:lnTo>
                <a:lnTo>
                  <a:pt x="0" y="4654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5324" y="2901313"/>
            <a:ext cx="16777352" cy="2705348"/>
          </a:xfrm>
          <a:custGeom>
            <a:avLst/>
            <a:gdLst/>
            <a:ahLst/>
            <a:cxnLst/>
            <a:rect r="r" b="b" t="t" l="l"/>
            <a:pathLst>
              <a:path h="2705348" w="16777352">
                <a:moveTo>
                  <a:pt x="0" y="0"/>
                </a:moveTo>
                <a:lnTo>
                  <a:pt x="16777352" y="0"/>
                </a:lnTo>
                <a:lnTo>
                  <a:pt x="16777352" y="2705348"/>
                </a:lnTo>
                <a:lnTo>
                  <a:pt x="0" y="27053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26962" y="6670919"/>
            <a:ext cx="13834076" cy="80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sz="2899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 Figure :- </a:t>
            </a:r>
            <a:r>
              <a:rPr lang="en-US" sz="2899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SCoT pipeline flowchart (Question/Schema → Plan → Validation →       Generation → Ranking → Final SQL).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8747" y="3341958"/>
            <a:ext cx="7423185" cy="4421876"/>
            <a:chOff x="0" y="0"/>
            <a:chExt cx="1779442" cy="10599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9442" cy="1059986"/>
            </a:xfrm>
            <a:custGeom>
              <a:avLst/>
              <a:gdLst/>
              <a:ahLst/>
              <a:cxnLst/>
              <a:rect r="r" b="b" t="t" l="l"/>
              <a:pathLst>
                <a:path h="1059986" w="1779442">
                  <a:moveTo>
                    <a:pt x="23988" y="0"/>
                  </a:moveTo>
                  <a:lnTo>
                    <a:pt x="1755455" y="0"/>
                  </a:lnTo>
                  <a:cubicBezTo>
                    <a:pt x="1768703" y="0"/>
                    <a:pt x="1779442" y="10740"/>
                    <a:pt x="1779442" y="23988"/>
                  </a:cubicBezTo>
                  <a:lnTo>
                    <a:pt x="1779442" y="1035999"/>
                  </a:lnTo>
                  <a:cubicBezTo>
                    <a:pt x="1779442" y="1049247"/>
                    <a:pt x="1768703" y="1059986"/>
                    <a:pt x="1755455" y="1059986"/>
                  </a:cubicBezTo>
                  <a:lnTo>
                    <a:pt x="23988" y="1059986"/>
                  </a:lnTo>
                  <a:cubicBezTo>
                    <a:pt x="10740" y="1059986"/>
                    <a:pt x="0" y="1049247"/>
                    <a:pt x="0" y="1035999"/>
                  </a:cubicBezTo>
                  <a:lnTo>
                    <a:pt x="0" y="23988"/>
                  </a:lnTo>
                  <a:cubicBezTo>
                    <a:pt x="0" y="10740"/>
                    <a:pt x="10740" y="0"/>
                    <a:pt x="2398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67" r="0" b="-46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609018" y="-105412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230600" y="795440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6944566" y="1098522"/>
            <a:ext cx="4398867" cy="126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9"/>
              </a:lnSpc>
            </a:pPr>
            <a:r>
              <a:rPr lang="en-US" sz="8999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Results</a:t>
            </a:r>
          </a:p>
        </p:txBody>
      </p:sp>
      <p:grpSp>
        <p:nvGrpSpPr>
          <p:cNvPr name="Group 7" id="7"/>
          <p:cNvGrpSpPr/>
          <p:nvPr/>
        </p:nvGrpSpPr>
        <p:grpSpPr>
          <a:xfrm rot="-2700000">
            <a:off x="17145794" y="-2326513"/>
            <a:ext cx="2122680" cy="6963643"/>
            <a:chOff x="0" y="0"/>
            <a:chExt cx="559060" cy="18340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9060" cy="1834046"/>
            </a:xfrm>
            <a:custGeom>
              <a:avLst/>
              <a:gdLst/>
              <a:ahLst/>
              <a:cxnLst/>
              <a:rect r="r" b="b" t="t" l="l"/>
              <a:pathLst>
                <a:path h="1834046" w="559060">
                  <a:moveTo>
                    <a:pt x="0" y="0"/>
                  </a:moveTo>
                  <a:lnTo>
                    <a:pt x="559060" y="0"/>
                  </a:lnTo>
                  <a:lnTo>
                    <a:pt x="559060" y="1834046"/>
                  </a:lnTo>
                  <a:lnTo>
                    <a:pt x="0" y="1834046"/>
                  </a:ln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559060" cy="1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-5400000">
            <a:off x="15375452" y="890921"/>
            <a:ext cx="2675918" cy="3339679"/>
          </a:xfrm>
          <a:custGeom>
            <a:avLst/>
            <a:gdLst/>
            <a:ahLst/>
            <a:cxnLst/>
            <a:rect r="r" b="b" t="t" l="l"/>
            <a:pathLst>
              <a:path h="3339679" w="2675918">
                <a:moveTo>
                  <a:pt x="2675917" y="3339679"/>
                </a:moveTo>
                <a:lnTo>
                  <a:pt x="0" y="3339679"/>
                </a:lnTo>
                <a:lnTo>
                  <a:pt x="0" y="0"/>
                </a:lnTo>
                <a:lnTo>
                  <a:pt x="2675917" y="0"/>
                </a:lnTo>
                <a:lnTo>
                  <a:pt x="2675917" y="333967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4401965" y="6835918"/>
            <a:ext cx="7138619" cy="4889954"/>
          </a:xfrm>
          <a:custGeom>
            <a:avLst/>
            <a:gdLst/>
            <a:ahLst/>
            <a:cxnLst/>
            <a:rect r="r" b="b" t="t" l="l"/>
            <a:pathLst>
              <a:path h="4889954" w="7138619">
                <a:moveTo>
                  <a:pt x="0" y="0"/>
                </a:moveTo>
                <a:lnTo>
                  <a:pt x="7138619" y="0"/>
                </a:lnTo>
                <a:lnTo>
                  <a:pt x="7138619" y="4889954"/>
                </a:lnTo>
                <a:lnTo>
                  <a:pt x="0" y="48899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6943612" y="8579999"/>
            <a:ext cx="599945" cy="599945"/>
          </a:xfrm>
          <a:custGeom>
            <a:avLst/>
            <a:gdLst/>
            <a:ahLst/>
            <a:cxnLst/>
            <a:rect r="r" b="b" t="t" l="l"/>
            <a:pathLst>
              <a:path h="599945" w="599945">
                <a:moveTo>
                  <a:pt x="0" y="0"/>
                </a:moveTo>
                <a:lnTo>
                  <a:pt x="599945" y="0"/>
                </a:lnTo>
                <a:lnTo>
                  <a:pt x="599945" y="599945"/>
                </a:lnTo>
                <a:lnTo>
                  <a:pt x="0" y="5999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619818" y="3341958"/>
            <a:ext cx="1127494" cy="1127494"/>
            <a:chOff x="0" y="0"/>
            <a:chExt cx="262785" cy="2627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2785" cy="262785"/>
            </a:xfrm>
            <a:custGeom>
              <a:avLst/>
              <a:gdLst/>
              <a:ahLst/>
              <a:cxnLst/>
              <a:rect r="r" b="b" t="t" l="l"/>
              <a:pathLst>
                <a:path h="262785" w="262785">
                  <a:moveTo>
                    <a:pt x="131392" y="0"/>
                  </a:moveTo>
                  <a:lnTo>
                    <a:pt x="131392" y="0"/>
                  </a:lnTo>
                  <a:cubicBezTo>
                    <a:pt x="166240" y="0"/>
                    <a:pt x="199660" y="13843"/>
                    <a:pt x="224301" y="38484"/>
                  </a:cubicBezTo>
                  <a:cubicBezTo>
                    <a:pt x="248942" y="63125"/>
                    <a:pt x="262785" y="96545"/>
                    <a:pt x="262785" y="131392"/>
                  </a:cubicBezTo>
                  <a:lnTo>
                    <a:pt x="262785" y="131392"/>
                  </a:lnTo>
                  <a:cubicBezTo>
                    <a:pt x="262785" y="166240"/>
                    <a:pt x="248942" y="199660"/>
                    <a:pt x="224301" y="224301"/>
                  </a:cubicBezTo>
                  <a:cubicBezTo>
                    <a:pt x="199660" y="248942"/>
                    <a:pt x="166240" y="262785"/>
                    <a:pt x="131392" y="262785"/>
                  </a:cubicBezTo>
                  <a:lnTo>
                    <a:pt x="131392" y="262785"/>
                  </a:lnTo>
                  <a:cubicBezTo>
                    <a:pt x="96545" y="262785"/>
                    <a:pt x="63125" y="248942"/>
                    <a:pt x="38484" y="224301"/>
                  </a:cubicBezTo>
                  <a:cubicBezTo>
                    <a:pt x="13843" y="199660"/>
                    <a:pt x="0" y="166240"/>
                    <a:pt x="0" y="131392"/>
                  </a:cubicBezTo>
                  <a:lnTo>
                    <a:pt x="0" y="131392"/>
                  </a:lnTo>
                  <a:cubicBezTo>
                    <a:pt x="0" y="96545"/>
                    <a:pt x="13843" y="63125"/>
                    <a:pt x="38484" y="38484"/>
                  </a:cubicBezTo>
                  <a:cubicBezTo>
                    <a:pt x="63125" y="13843"/>
                    <a:pt x="96545" y="0"/>
                    <a:pt x="131392" y="0"/>
                  </a:cubicBezTo>
                  <a:close/>
                </a:path>
              </a:pathLst>
            </a:custGeom>
            <a:solidFill>
              <a:srgbClr val="57B4B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62785" cy="319935"/>
            </a:xfrm>
            <a:prstGeom prst="rect">
              <a:avLst/>
            </a:prstGeom>
          </p:spPr>
          <p:txBody>
            <a:bodyPr anchor="ctr" rtlCol="false" tIns="57405" lIns="57405" bIns="57405" rIns="57405"/>
            <a:lstStyle/>
            <a:p>
              <a:pPr algn="ctr">
                <a:lnSpc>
                  <a:spcPts val="391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872759" y="3594899"/>
            <a:ext cx="621610" cy="621610"/>
          </a:xfrm>
          <a:custGeom>
            <a:avLst/>
            <a:gdLst/>
            <a:ahLst/>
            <a:cxnLst/>
            <a:rect r="r" b="b" t="t" l="l"/>
            <a:pathLst>
              <a:path h="621610" w="621610">
                <a:moveTo>
                  <a:pt x="0" y="0"/>
                </a:moveTo>
                <a:lnTo>
                  <a:pt x="621610" y="0"/>
                </a:lnTo>
                <a:lnTo>
                  <a:pt x="621610" y="621610"/>
                </a:lnTo>
                <a:lnTo>
                  <a:pt x="0" y="6216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9321" y="3993208"/>
            <a:ext cx="7270854" cy="29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380" indent="-225190" lvl="1">
              <a:lnSpc>
                <a:spcPts val="2920"/>
              </a:lnSpc>
              <a:buFont typeface="Arial"/>
              <a:buChar char="•"/>
            </a:pPr>
            <a:r>
              <a:rPr lang="en-US" sz="2086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SCoT achieves 84.33% EX, the highest among all methods.</a:t>
            </a:r>
          </a:p>
          <a:p>
            <a:pPr algn="l" marL="450380" indent="-225190" lvl="1">
              <a:lnSpc>
                <a:spcPts val="2920"/>
              </a:lnSpc>
              <a:buFont typeface="Arial"/>
              <a:buChar char="•"/>
            </a:pPr>
            <a:r>
              <a:rPr lang="en-US" sz="2086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~9% higher than the strongest baseline (75.17%).</a:t>
            </a:r>
          </a:p>
          <a:p>
            <a:pPr algn="l" marL="450380" indent="-225190" lvl="1">
              <a:lnSpc>
                <a:spcPts val="2920"/>
              </a:lnSpc>
              <a:buFont typeface="Arial"/>
              <a:buChar char="•"/>
            </a:pPr>
            <a:r>
              <a:rPr lang="en-US" sz="2086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Standard and QDecomp perform similarly (73.67% EX).</a:t>
            </a:r>
          </a:p>
          <a:p>
            <a:pPr algn="l" marL="450380" indent="-225190" lvl="1">
              <a:lnSpc>
                <a:spcPts val="2920"/>
              </a:lnSpc>
              <a:buFont typeface="Arial"/>
              <a:buChar char="•"/>
            </a:pPr>
            <a:r>
              <a:rPr lang="en-US" sz="2086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Chain-of-Thought is the weakest (40.17% EX), confirming its instability on complex queries.</a:t>
            </a:r>
          </a:p>
          <a:p>
            <a:pPr algn="l">
              <a:lnSpc>
                <a:spcPts val="348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89321" y="3294333"/>
            <a:ext cx="7270854" cy="508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sz="3051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Gemini 2.5 Pro Execution Accuracy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8747" y="3341958"/>
            <a:ext cx="7423185" cy="4421876"/>
            <a:chOff x="0" y="0"/>
            <a:chExt cx="1779442" cy="10599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9442" cy="1059986"/>
            </a:xfrm>
            <a:custGeom>
              <a:avLst/>
              <a:gdLst/>
              <a:ahLst/>
              <a:cxnLst/>
              <a:rect r="r" b="b" t="t" l="l"/>
              <a:pathLst>
                <a:path h="1059986" w="1779442">
                  <a:moveTo>
                    <a:pt x="23988" y="0"/>
                  </a:moveTo>
                  <a:lnTo>
                    <a:pt x="1755455" y="0"/>
                  </a:lnTo>
                  <a:cubicBezTo>
                    <a:pt x="1768703" y="0"/>
                    <a:pt x="1779442" y="10740"/>
                    <a:pt x="1779442" y="23988"/>
                  </a:cubicBezTo>
                  <a:lnTo>
                    <a:pt x="1779442" y="1035999"/>
                  </a:lnTo>
                  <a:cubicBezTo>
                    <a:pt x="1779442" y="1049247"/>
                    <a:pt x="1768703" y="1059986"/>
                    <a:pt x="1755455" y="1059986"/>
                  </a:cubicBezTo>
                  <a:lnTo>
                    <a:pt x="23988" y="1059986"/>
                  </a:lnTo>
                  <a:cubicBezTo>
                    <a:pt x="10740" y="1059986"/>
                    <a:pt x="0" y="1049247"/>
                    <a:pt x="0" y="1035999"/>
                  </a:cubicBezTo>
                  <a:lnTo>
                    <a:pt x="0" y="23988"/>
                  </a:lnTo>
                  <a:cubicBezTo>
                    <a:pt x="0" y="10740"/>
                    <a:pt x="10740" y="0"/>
                    <a:pt x="2398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67" r="0" b="-46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609018" y="-105412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230600" y="795440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-2700000">
            <a:off x="17145794" y="-2326513"/>
            <a:ext cx="2122680" cy="6963643"/>
            <a:chOff x="0" y="0"/>
            <a:chExt cx="559060" cy="18340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9060" cy="1834046"/>
            </a:xfrm>
            <a:custGeom>
              <a:avLst/>
              <a:gdLst/>
              <a:ahLst/>
              <a:cxnLst/>
              <a:rect r="r" b="b" t="t" l="l"/>
              <a:pathLst>
                <a:path h="1834046" w="559060">
                  <a:moveTo>
                    <a:pt x="0" y="0"/>
                  </a:moveTo>
                  <a:lnTo>
                    <a:pt x="559060" y="0"/>
                  </a:lnTo>
                  <a:lnTo>
                    <a:pt x="559060" y="1834046"/>
                  </a:lnTo>
                  <a:lnTo>
                    <a:pt x="0" y="1834046"/>
                  </a:ln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59060" cy="1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-5400000">
            <a:off x="15375452" y="890921"/>
            <a:ext cx="2675918" cy="3339679"/>
          </a:xfrm>
          <a:custGeom>
            <a:avLst/>
            <a:gdLst/>
            <a:ahLst/>
            <a:cxnLst/>
            <a:rect r="r" b="b" t="t" l="l"/>
            <a:pathLst>
              <a:path h="3339679" w="2675918">
                <a:moveTo>
                  <a:pt x="2675917" y="3339679"/>
                </a:moveTo>
                <a:lnTo>
                  <a:pt x="0" y="3339679"/>
                </a:lnTo>
                <a:lnTo>
                  <a:pt x="0" y="0"/>
                </a:lnTo>
                <a:lnTo>
                  <a:pt x="2675917" y="0"/>
                </a:lnTo>
                <a:lnTo>
                  <a:pt x="2675917" y="333967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-4401965" y="6835918"/>
            <a:ext cx="7138619" cy="4889954"/>
          </a:xfrm>
          <a:custGeom>
            <a:avLst/>
            <a:gdLst/>
            <a:ahLst/>
            <a:cxnLst/>
            <a:rect r="r" b="b" t="t" l="l"/>
            <a:pathLst>
              <a:path h="4889954" w="7138619">
                <a:moveTo>
                  <a:pt x="0" y="0"/>
                </a:moveTo>
                <a:lnTo>
                  <a:pt x="7138619" y="0"/>
                </a:lnTo>
                <a:lnTo>
                  <a:pt x="7138619" y="4889954"/>
                </a:lnTo>
                <a:lnTo>
                  <a:pt x="0" y="48899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943612" y="8579999"/>
            <a:ext cx="599945" cy="599945"/>
          </a:xfrm>
          <a:custGeom>
            <a:avLst/>
            <a:gdLst/>
            <a:ahLst/>
            <a:cxnLst/>
            <a:rect r="r" b="b" t="t" l="l"/>
            <a:pathLst>
              <a:path h="599945" w="599945">
                <a:moveTo>
                  <a:pt x="0" y="0"/>
                </a:moveTo>
                <a:lnTo>
                  <a:pt x="599945" y="0"/>
                </a:lnTo>
                <a:lnTo>
                  <a:pt x="599945" y="599945"/>
                </a:lnTo>
                <a:lnTo>
                  <a:pt x="0" y="5999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619818" y="3341958"/>
            <a:ext cx="1127494" cy="1127494"/>
            <a:chOff x="0" y="0"/>
            <a:chExt cx="262785" cy="2627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2785" cy="262785"/>
            </a:xfrm>
            <a:custGeom>
              <a:avLst/>
              <a:gdLst/>
              <a:ahLst/>
              <a:cxnLst/>
              <a:rect r="r" b="b" t="t" l="l"/>
              <a:pathLst>
                <a:path h="262785" w="262785">
                  <a:moveTo>
                    <a:pt x="131392" y="0"/>
                  </a:moveTo>
                  <a:lnTo>
                    <a:pt x="131392" y="0"/>
                  </a:lnTo>
                  <a:cubicBezTo>
                    <a:pt x="166240" y="0"/>
                    <a:pt x="199660" y="13843"/>
                    <a:pt x="224301" y="38484"/>
                  </a:cubicBezTo>
                  <a:cubicBezTo>
                    <a:pt x="248942" y="63125"/>
                    <a:pt x="262785" y="96545"/>
                    <a:pt x="262785" y="131392"/>
                  </a:cubicBezTo>
                  <a:lnTo>
                    <a:pt x="262785" y="131392"/>
                  </a:lnTo>
                  <a:cubicBezTo>
                    <a:pt x="262785" y="166240"/>
                    <a:pt x="248942" y="199660"/>
                    <a:pt x="224301" y="224301"/>
                  </a:cubicBezTo>
                  <a:cubicBezTo>
                    <a:pt x="199660" y="248942"/>
                    <a:pt x="166240" y="262785"/>
                    <a:pt x="131392" y="262785"/>
                  </a:cubicBezTo>
                  <a:lnTo>
                    <a:pt x="131392" y="262785"/>
                  </a:lnTo>
                  <a:cubicBezTo>
                    <a:pt x="96545" y="262785"/>
                    <a:pt x="63125" y="248942"/>
                    <a:pt x="38484" y="224301"/>
                  </a:cubicBezTo>
                  <a:cubicBezTo>
                    <a:pt x="13843" y="199660"/>
                    <a:pt x="0" y="166240"/>
                    <a:pt x="0" y="131392"/>
                  </a:cubicBezTo>
                  <a:lnTo>
                    <a:pt x="0" y="131392"/>
                  </a:lnTo>
                  <a:cubicBezTo>
                    <a:pt x="0" y="96545"/>
                    <a:pt x="13843" y="63125"/>
                    <a:pt x="38484" y="38484"/>
                  </a:cubicBezTo>
                  <a:cubicBezTo>
                    <a:pt x="63125" y="13843"/>
                    <a:pt x="96545" y="0"/>
                    <a:pt x="131392" y="0"/>
                  </a:cubicBezTo>
                  <a:close/>
                </a:path>
              </a:pathLst>
            </a:custGeom>
            <a:solidFill>
              <a:srgbClr val="57B4B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62785" cy="319935"/>
            </a:xfrm>
            <a:prstGeom prst="rect">
              <a:avLst/>
            </a:prstGeom>
          </p:spPr>
          <p:txBody>
            <a:bodyPr anchor="ctr" rtlCol="false" tIns="57405" lIns="57405" bIns="57405" rIns="57405"/>
            <a:lstStyle/>
            <a:p>
              <a:pPr algn="ctr">
                <a:lnSpc>
                  <a:spcPts val="391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872759" y="3594899"/>
            <a:ext cx="621610" cy="621610"/>
          </a:xfrm>
          <a:custGeom>
            <a:avLst/>
            <a:gdLst/>
            <a:ahLst/>
            <a:cxnLst/>
            <a:rect r="r" b="b" t="t" l="l"/>
            <a:pathLst>
              <a:path h="621610" w="621610">
                <a:moveTo>
                  <a:pt x="0" y="0"/>
                </a:moveTo>
                <a:lnTo>
                  <a:pt x="621610" y="0"/>
                </a:lnTo>
                <a:lnTo>
                  <a:pt x="621610" y="621610"/>
                </a:lnTo>
                <a:lnTo>
                  <a:pt x="0" y="6216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944566" y="1098522"/>
            <a:ext cx="4398867" cy="126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9"/>
              </a:lnSpc>
            </a:pPr>
            <a:r>
              <a:rPr lang="en-US" sz="8999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Results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9321" y="3993208"/>
            <a:ext cx="7270854" cy="251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380" indent="-225190" lvl="1">
              <a:lnSpc>
                <a:spcPts val="2920"/>
              </a:lnSpc>
              <a:buFont typeface="Arial"/>
              <a:buChar char="•"/>
            </a:pPr>
            <a:r>
              <a:rPr lang="en-US" sz="2086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SCoT again ranks first with 70.20% EX.</a:t>
            </a:r>
          </a:p>
          <a:p>
            <a:pPr algn="l" marL="450380" indent="-225190" lvl="1">
              <a:lnSpc>
                <a:spcPts val="2920"/>
              </a:lnSpc>
              <a:buFont typeface="Arial"/>
              <a:buChar char="•"/>
            </a:pPr>
            <a:r>
              <a:rPr lang="en-US" sz="2086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O</a:t>
            </a:r>
            <a:r>
              <a:rPr lang="en-US" sz="2086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ther methods cluster closely:</a:t>
            </a:r>
          </a:p>
          <a:p>
            <a:pPr algn="l">
              <a:lnSpc>
                <a:spcPts val="2920"/>
              </a:lnSpc>
            </a:pPr>
            <a:r>
              <a:rPr lang="en-US" sz="2086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                     </a:t>
            </a:r>
            <a:r>
              <a:rPr lang="en-US" sz="2086">
                <a:solidFill>
                  <a:srgbClr val="0097B2"/>
                </a:solidFill>
                <a:latin typeface="Gordita"/>
                <a:ea typeface="Gordita"/>
                <a:cs typeface="Gordita"/>
                <a:sym typeface="Gordita"/>
              </a:rPr>
              <a:t>Standard: 69.60%,</a:t>
            </a:r>
          </a:p>
          <a:p>
            <a:pPr algn="l">
              <a:lnSpc>
                <a:spcPts val="2920"/>
              </a:lnSpc>
            </a:pPr>
            <a:r>
              <a:rPr lang="en-US" sz="2086">
                <a:solidFill>
                  <a:srgbClr val="0097B2"/>
                </a:solidFill>
                <a:latin typeface="Gordita"/>
                <a:ea typeface="Gordita"/>
                <a:cs typeface="Gordita"/>
                <a:sym typeface="Gordita"/>
              </a:rPr>
              <a:t>                     </a:t>
            </a:r>
            <a:r>
              <a:rPr lang="en-US" sz="2086">
                <a:solidFill>
                  <a:srgbClr val="0097B2"/>
                </a:solidFill>
                <a:latin typeface="Gordita"/>
                <a:ea typeface="Gordita"/>
                <a:cs typeface="Gordita"/>
                <a:sym typeface="Gordita"/>
              </a:rPr>
              <a:t>QDecomp_InterCol: 69.20%,</a:t>
            </a:r>
          </a:p>
          <a:p>
            <a:pPr algn="l">
              <a:lnSpc>
                <a:spcPts val="2920"/>
              </a:lnSpc>
            </a:pPr>
            <a:r>
              <a:rPr lang="en-US" sz="2086">
                <a:solidFill>
                  <a:srgbClr val="0097B2"/>
                </a:solidFill>
                <a:latin typeface="Gordita"/>
                <a:ea typeface="Gordita"/>
                <a:cs typeface="Gordita"/>
                <a:sym typeface="Gordita"/>
              </a:rPr>
              <a:t>                     </a:t>
            </a:r>
            <a:r>
              <a:rPr lang="en-US" sz="2086">
                <a:solidFill>
                  <a:srgbClr val="0097B2"/>
                </a:solidFill>
                <a:latin typeface="Gordita"/>
                <a:ea typeface="Gordita"/>
                <a:cs typeface="Gordita"/>
                <a:sym typeface="Gordita"/>
              </a:rPr>
              <a:t>QDecomp: 69.00%</a:t>
            </a:r>
          </a:p>
          <a:p>
            <a:pPr algn="l" marL="450380" indent="-225190" lvl="1">
              <a:lnSpc>
                <a:spcPts val="2920"/>
              </a:lnSpc>
              <a:buFont typeface="Arial"/>
              <a:buChar char="•"/>
            </a:pPr>
            <a:r>
              <a:rPr lang="en-US" sz="2086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Chain-of-Thought is still lowest (65.20% EX).</a:t>
            </a:r>
          </a:p>
          <a:p>
            <a:pPr algn="l">
              <a:lnSpc>
                <a:spcPts val="292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89321" y="3294333"/>
            <a:ext cx="7270854" cy="508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sz="3051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GPT-4o-mini Execution Accuracy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09018" y="-105412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230600" y="795440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-2700000">
            <a:off x="17145794" y="-2326513"/>
            <a:ext cx="2122680" cy="6963643"/>
            <a:chOff x="0" y="0"/>
            <a:chExt cx="559060" cy="18340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9060" cy="1834046"/>
            </a:xfrm>
            <a:custGeom>
              <a:avLst/>
              <a:gdLst/>
              <a:ahLst/>
              <a:cxnLst/>
              <a:rect r="r" b="b" t="t" l="l"/>
              <a:pathLst>
                <a:path h="1834046" w="559060">
                  <a:moveTo>
                    <a:pt x="0" y="0"/>
                  </a:moveTo>
                  <a:lnTo>
                    <a:pt x="559060" y="0"/>
                  </a:lnTo>
                  <a:lnTo>
                    <a:pt x="559060" y="1834046"/>
                  </a:lnTo>
                  <a:lnTo>
                    <a:pt x="0" y="1834046"/>
                  </a:ln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559060" cy="1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true" rot="-5400000">
            <a:off x="15375452" y="890921"/>
            <a:ext cx="2675918" cy="3339679"/>
          </a:xfrm>
          <a:custGeom>
            <a:avLst/>
            <a:gdLst/>
            <a:ahLst/>
            <a:cxnLst/>
            <a:rect r="r" b="b" t="t" l="l"/>
            <a:pathLst>
              <a:path h="3339679" w="2675918">
                <a:moveTo>
                  <a:pt x="2675917" y="3339679"/>
                </a:moveTo>
                <a:lnTo>
                  <a:pt x="0" y="3339679"/>
                </a:lnTo>
                <a:lnTo>
                  <a:pt x="0" y="0"/>
                </a:lnTo>
                <a:lnTo>
                  <a:pt x="2675917" y="0"/>
                </a:lnTo>
                <a:lnTo>
                  <a:pt x="2675917" y="333967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4401965" y="6835918"/>
            <a:ext cx="7138619" cy="4889954"/>
          </a:xfrm>
          <a:custGeom>
            <a:avLst/>
            <a:gdLst/>
            <a:ahLst/>
            <a:cxnLst/>
            <a:rect r="r" b="b" t="t" l="l"/>
            <a:pathLst>
              <a:path h="4889954" w="7138619">
                <a:moveTo>
                  <a:pt x="0" y="0"/>
                </a:moveTo>
                <a:lnTo>
                  <a:pt x="7138619" y="0"/>
                </a:lnTo>
                <a:lnTo>
                  <a:pt x="7138619" y="4889954"/>
                </a:lnTo>
                <a:lnTo>
                  <a:pt x="0" y="48899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943612" y="8579999"/>
            <a:ext cx="599945" cy="599945"/>
          </a:xfrm>
          <a:custGeom>
            <a:avLst/>
            <a:gdLst/>
            <a:ahLst/>
            <a:cxnLst/>
            <a:rect r="r" b="b" t="t" l="l"/>
            <a:pathLst>
              <a:path h="599945" w="599945">
                <a:moveTo>
                  <a:pt x="0" y="0"/>
                </a:moveTo>
                <a:lnTo>
                  <a:pt x="599945" y="0"/>
                </a:lnTo>
                <a:lnTo>
                  <a:pt x="599945" y="599945"/>
                </a:lnTo>
                <a:lnTo>
                  <a:pt x="0" y="5999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944566" y="1098522"/>
            <a:ext cx="4398867" cy="126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9"/>
              </a:lnSpc>
            </a:pPr>
            <a:r>
              <a:rPr lang="en-US" sz="8999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Results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983594" y="3549133"/>
            <a:ext cx="10320813" cy="5330838"/>
            <a:chOff x="0" y="0"/>
            <a:chExt cx="13761083" cy="710778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735449" cy="1735449"/>
              <a:chOff x="0" y="0"/>
              <a:chExt cx="262785" cy="26278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62785" cy="262785"/>
              </a:xfrm>
              <a:custGeom>
                <a:avLst/>
                <a:gdLst/>
                <a:ahLst/>
                <a:cxnLst/>
                <a:rect r="r" b="b" t="t" l="l"/>
                <a:pathLst>
                  <a:path h="262785" w="262785">
                    <a:moveTo>
                      <a:pt x="131392" y="0"/>
                    </a:moveTo>
                    <a:lnTo>
                      <a:pt x="131392" y="0"/>
                    </a:lnTo>
                    <a:cubicBezTo>
                      <a:pt x="166240" y="0"/>
                      <a:pt x="199660" y="13843"/>
                      <a:pt x="224301" y="38484"/>
                    </a:cubicBezTo>
                    <a:cubicBezTo>
                      <a:pt x="248942" y="63125"/>
                      <a:pt x="262785" y="96545"/>
                      <a:pt x="262785" y="131392"/>
                    </a:cubicBezTo>
                    <a:lnTo>
                      <a:pt x="262785" y="131392"/>
                    </a:lnTo>
                    <a:cubicBezTo>
                      <a:pt x="262785" y="166240"/>
                      <a:pt x="248942" y="199660"/>
                      <a:pt x="224301" y="224301"/>
                    </a:cubicBezTo>
                    <a:cubicBezTo>
                      <a:pt x="199660" y="248942"/>
                      <a:pt x="166240" y="262785"/>
                      <a:pt x="131392" y="262785"/>
                    </a:cubicBezTo>
                    <a:lnTo>
                      <a:pt x="131392" y="262785"/>
                    </a:lnTo>
                    <a:cubicBezTo>
                      <a:pt x="96545" y="262785"/>
                      <a:pt x="63125" y="248942"/>
                      <a:pt x="38484" y="224301"/>
                    </a:cubicBezTo>
                    <a:cubicBezTo>
                      <a:pt x="13843" y="199660"/>
                      <a:pt x="0" y="166240"/>
                      <a:pt x="0" y="131392"/>
                    </a:cubicBezTo>
                    <a:lnTo>
                      <a:pt x="0" y="131392"/>
                    </a:lnTo>
                    <a:cubicBezTo>
                      <a:pt x="0" y="96545"/>
                      <a:pt x="13843" y="63125"/>
                      <a:pt x="38484" y="38484"/>
                    </a:cubicBezTo>
                    <a:cubicBezTo>
                      <a:pt x="63125" y="13843"/>
                      <a:pt x="96545" y="0"/>
                      <a:pt x="131392" y="0"/>
                    </a:cubicBezTo>
                    <a:close/>
                  </a:path>
                </a:pathLst>
              </a:custGeom>
              <a:solidFill>
                <a:srgbClr val="57B4B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262785" cy="319935"/>
              </a:xfrm>
              <a:prstGeom prst="rect">
                <a:avLst/>
              </a:prstGeom>
            </p:spPr>
            <p:txBody>
              <a:bodyPr anchor="ctr" rtlCol="false" tIns="57405" lIns="57405" bIns="57405" rIns="57405"/>
              <a:lstStyle/>
              <a:p>
                <a:pPr algn="ctr">
                  <a:lnSpc>
                    <a:spcPts val="3919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389330" y="389330"/>
              <a:ext cx="956788" cy="956788"/>
            </a:xfrm>
            <a:custGeom>
              <a:avLst/>
              <a:gdLst/>
              <a:ahLst/>
              <a:cxnLst/>
              <a:rect r="r" b="b" t="t" l="l"/>
              <a:pathLst>
                <a:path h="956788" w="956788">
                  <a:moveTo>
                    <a:pt x="0" y="0"/>
                  </a:moveTo>
                  <a:lnTo>
                    <a:pt x="956788" y="0"/>
                  </a:lnTo>
                  <a:lnTo>
                    <a:pt x="956788" y="956788"/>
                  </a:lnTo>
                  <a:lnTo>
                    <a:pt x="0" y="956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569715" y="1013430"/>
              <a:ext cx="11191368" cy="6094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9922" indent="-259961" lvl="1">
                <a:lnSpc>
                  <a:spcPts val="3371"/>
                </a:lnSpc>
                <a:buFont typeface="Arial"/>
                <a:buChar char="•"/>
              </a:pPr>
              <a:r>
                <a:rPr lang="en-US" sz="2408">
                  <a:solidFill>
                    <a:srgbClr val="015551"/>
                  </a:solidFill>
                  <a:latin typeface="Gordita"/>
                  <a:ea typeface="Gordita"/>
                  <a:cs typeface="Gordita"/>
                  <a:sym typeface="Gordita"/>
                </a:rPr>
                <a:t>SCoT is the top performer on both models, with consistent gains.</a:t>
              </a:r>
            </a:p>
            <a:p>
              <a:pPr algn="l" marL="519922" indent="-259961" lvl="1">
                <a:lnSpc>
                  <a:spcPts val="3371"/>
                </a:lnSpc>
                <a:buFont typeface="Arial"/>
                <a:buChar char="•"/>
              </a:pPr>
              <a:r>
                <a:rPr lang="en-US" sz="2408">
                  <a:solidFill>
                    <a:srgbClr val="015551"/>
                  </a:solidFill>
                  <a:latin typeface="Gordita"/>
                  <a:ea typeface="Gordita"/>
                  <a:cs typeface="Gordita"/>
                  <a:sym typeface="Gordita"/>
                </a:rPr>
                <a:t>The improvement gap is large on Gemini (~9 points) but small on GPT-4o-mini (~1 point).</a:t>
              </a:r>
            </a:p>
            <a:p>
              <a:pPr algn="l" marL="519922" indent="-259961" lvl="1">
                <a:lnSpc>
                  <a:spcPts val="3371"/>
                </a:lnSpc>
                <a:buFont typeface="Arial"/>
                <a:buChar char="•"/>
              </a:pPr>
              <a:r>
                <a:rPr lang="en-US" sz="2408">
                  <a:solidFill>
                    <a:srgbClr val="015551"/>
                  </a:solidFill>
                  <a:latin typeface="Gordita"/>
                  <a:ea typeface="Gordita"/>
                  <a:cs typeface="Gordita"/>
                  <a:sym typeface="Gordita"/>
                </a:rPr>
                <a:t>Chain-of-Thought</a:t>
              </a:r>
              <a:r>
                <a:rPr lang="en-US" sz="2408">
                  <a:solidFill>
                    <a:srgbClr val="015551"/>
                  </a:solidFill>
                  <a:latin typeface="Gordita"/>
                  <a:ea typeface="Gordita"/>
                  <a:cs typeface="Gordita"/>
                  <a:sym typeface="Gordita"/>
                </a:rPr>
                <a:t> remains the least accurate, supporting evidence that long, clause-level r</a:t>
              </a:r>
              <a:r>
                <a:rPr lang="en-US" sz="2408">
                  <a:solidFill>
                    <a:srgbClr val="015551"/>
                  </a:solidFill>
                  <a:latin typeface="Gordita"/>
                  <a:ea typeface="Gordita"/>
                  <a:cs typeface="Gordita"/>
                  <a:sym typeface="Gordita"/>
                </a:rPr>
                <a:t>easoning introduces errors.</a:t>
              </a:r>
            </a:p>
            <a:p>
              <a:pPr algn="l" marL="519922" indent="-259961" lvl="1">
                <a:lnSpc>
                  <a:spcPts val="3371"/>
                </a:lnSpc>
                <a:buFont typeface="Arial"/>
                <a:buChar char="•"/>
              </a:pPr>
              <a:r>
                <a:rPr lang="en-US" sz="2408">
                  <a:solidFill>
                    <a:srgbClr val="015551"/>
                  </a:solidFill>
                  <a:latin typeface="Gordita"/>
                  <a:ea typeface="Gordita"/>
                  <a:cs typeface="Gordita"/>
                  <a:sym typeface="Gordita"/>
                </a:rPr>
                <a:t>On GPT-4o-mini, Standard and </a:t>
              </a:r>
              <a:r>
                <a:rPr lang="en-US" sz="2408">
                  <a:solidFill>
                    <a:srgbClr val="015551"/>
                  </a:solidFill>
                  <a:latin typeface="Gordita"/>
                  <a:ea typeface="Gordita"/>
                  <a:cs typeface="Gordita"/>
                  <a:sym typeface="Gordita"/>
                </a:rPr>
                <a:t>QDecomp variants cluster tightly, showing that the lighter model reduces method differences.</a:t>
              </a:r>
            </a:p>
            <a:p>
              <a:pPr algn="l">
                <a:lnSpc>
                  <a:spcPts val="3371"/>
                </a:lnSpc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569715" y="-66675"/>
              <a:ext cx="11191368" cy="775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31"/>
                </a:lnSpc>
              </a:pPr>
              <a:r>
                <a:rPr lang="en-US" sz="3522" b="true">
                  <a:solidFill>
                    <a:srgbClr val="015551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Cross-Model Insights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7113" y="7217967"/>
            <a:ext cx="4037647" cy="4114800"/>
          </a:xfrm>
          <a:custGeom>
            <a:avLst/>
            <a:gdLst/>
            <a:ahLst/>
            <a:cxnLst/>
            <a:rect r="r" b="b" t="t" l="l"/>
            <a:pathLst>
              <a:path h="4114800" w="4037647">
                <a:moveTo>
                  <a:pt x="0" y="0"/>
                </a:moveTo>
                <a:lnTo>
                  <a:pt x="4037648" y="0"/>
                </a:lnTo>
                <a:lnTo>
                  <a:pt x="40376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954816" y="-1783472"/>
            <a:ext cx="3338132" cy="4114800"/>
          </a:xfrm>
          <a:custGeom>
            <a:avLst/>
            <a:gdLst/>
            <a:ahLst/>
            <a:cxnLst/>
            <a:rect r="r" b="b" t="t" l="l"/>
            <a:pathLst>
              <a:path h="4114800" w="3338132">
                <a:moveTo>
                  <a:pt x="0" y="0"/>
                </a:moveTo>
                <a:lnTo>
                  <a:pt x="3338132" y="0"/>
                </a:lnTo>
                <a:lnTo>
                  <a:pt x="33381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68324" y="1568846"/>
            <a:ext cx="4063401" cy="4591414"/>
          </a:xfrm>
          <a:custGeom>
            <a:avLst/>
            <a:gdLst/>
            <a:ahLst/>
            <a:cxnLst/>
            <a:rect r="r" b="b" t="t" l="l"/>
            <a:pathLst>
              <a:path h="4591414" w="4063401">
                <a:moveTo>
                  <a:pt x="0" y="0"/>
                </a:moveTo>
                <a:lnTo>
                  <a:pt x="4063401" y="0"/>
                </a:lnTo>
                <a:lnTo>
                  <a:pt x="4063401" y="4591414"/>
                </a:lnTo>
                <a:lnTo>
                  <a:pt x="0" y="4591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-2700000">
            <a:off x="17145794" y="-2326513"/>
            <a:ext cx="2122680" cy="6963643"/>
            <a:chOff x="0" y="0"/>
            <a:chExt cx="559060" cy="18340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9060" cy="1834046"/>
            </a:xfrm>
            <a:custGeom>
              <a:avLst/>
              <a:gdLst/>
              <a:ahLst/>
              <a:cxnLst/>
              <a:rect r="r" b="b" t="t" l="l"/>
              <a:pathLst>
                <a:path h="1834046" w="559060">
                  <a:moveTo>
                    <a:pt x="0" y="0"/>
                  </a:moveTo>
                  <a:lnTo>
                    <a:pt x="559060" y="0"/>
                  </a:lnTo>
                  <a:lnTo>
                    <a:pt x="559060" y="1834046"/>
                  </a:lnTo>
                  <a:lnTo>
                    <a:pt x="0" y="1834046"/>
                  </a:ln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59060" cy="1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13953361" y="-768477"/>
            <a:ext cx="2654046" cy="4114800"/>
          </a:xfrm>
          <a:custGeom>
            <a:avLst/>
            <a:gdLst/>
            <a:ahLst/>
            <a:cxnLst/>
            <a:rect r="r" b="b" t="t" l="l"/>
            <a:pathLst>
              <a:path h="4114800" w="2654046">
                <a:moveTo>
                  <a:pt x="0" y="0"/>
                </a:moveTo>
                <a:lnTo>
                  <a:pt x="2654046" y="0"/>
                </a:lnTo>
                <a:lnTo>
                  <a:pt x="26540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-3316906" y="7055611"/>
            <a:ext cx="4688493" cy="4814883"/>
          </a:xfrm>
          <a:custGeom>
            <a:avLst/>
            <a:gdLst/>
            <a:ahLst/>
            <a:cxnLst/>
            <a:rect r="r" b="b" t="t" l="l"/>
            <a:pathLst>
              <a:path h="4814883" w="4688493">
                <a:moveTo>
                  <a:pt x="0" y="0"/>
                </a:moveTo>
                <a:lnTo>
                  <a:pt x="4688493" y="0"/>
                </a:lnTo>
                <a:lnTo>
                  <a:pt x="4688493" y="4814883"/>
                </a:lnTo>
                <a:lnTo>
                  <a:pt x="0" y="48148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468453" y="3612892"/>
            <a:ext cx="10203094" cy="3061216"/>
          </a:xfrm>
          <a:custGeom>
            <a:avLst/>
            <a:gdLst/>
            <a:ahLst/>
            <a:cxnLst/>
            <a:rect r="r" b="b" t="t" l="l"/>
            <a:pathLst>
              <a:path h="3061216" w="10203094">
                <a:moveTo>
                  <a:pt x="0" y="0"/>
                </a:moveTo>
                <a:lnTo>
                  <a:pt x="10203094" y="0"/>
                </a:lnTo>
                <a:lnTo>
                  <a:pt x="10203094" y="3061216"/>
                </a:lnTo>
                <a:lnTo>
                  <a:pt x="0" y="30612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80" t="-58742" r="-114285" b="-39742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52587" y="1650607"/>
            <a:ext cx="13824405" cy="100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000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Comparision of SCoT vs CoT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2627" y="3722167"/>
            <a:ext cx="6444362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1) SCoT uses a structured JSON format, whereas CoT relies on free-text reasoning.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2627" y="4693603"/>
            <a:ext cx="6444362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2) Multiple candidate reasoning paths (4–7) allow SCoT to explore diverse logical routes; CoT generates only a single chain.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2627" y="5881571"/>
            <a:ext cx="6444362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3) Built-in schema and logic validation in SCoT prevents invalid reasoning early; CoT has no validation.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2627" y="6857566"/>
            <a:ext cx="6816874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4) SCoT includes automatic repair, reducing execution errors; CoT requires manual correction.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2627" y="7833561"/>
            <a:ext cx="15351726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5) Accuracy gains are significant — SCoT nearly doubles accuracy on Gemini (84.33% vs 40.17%) and improves results on GPT-4o-mini.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42906" y="-1028700"/>
            <a:ext cx="3672459" cy="4114800"/>
          </a:xfrm>
          <a:custGeom>
            <a:avLst/>
            <a:gdLst/>
            <a:ahLst/>
            <a:cxnLst/>
            <a:rect r="r" b="b" t="t" l="l"/>
            <a:pathLst>
              <a:path h="4114800" w="3672459">
                <a:moveTo>
                  <a:pt x="0" y="0"/>
                </a:moveTo>
                <a:lnTo>
                  <a:pt x="3672459" y="0"/>
                </a:lnTo>
                <a:lnTo>
                  <a:pt x="36724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057400" y="73052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285750" y="-190500"/>
            <a:ext cx="5150699" cy="1751238"/>
          </a:xfrm>
          <a:custGeom>
            <a:avLst/>
            <a:gdLst/>
            <a:ahLst/>
            <a:cxnLst/>
            <a:rect r="r" b="b" t="t" l="l"/>
            <a:pathLst>
              <a:path h="1751238" w="5150699">
                <a:moveTo>
                  <a:pt x="0" y="0"/>
                </a:moveTo>
                <a:lnTo>
                  <a:pt x="5150699" y="0"/>
                </a:lnTo>
                <a:lnTo>
                  <a:pt x="5150699" y="1751238"/>
                </a:lnTo>
                <a:lnTo>
                  <a:pt x="0" y="1751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3254041">
            <a:off x="6156316" y="8906108"/>
            <a:ext cx="4262100" cy="3505577"/>
          </a:xfrm>
          <a:custGeom>
            <a:avLst/>
            <a:gdLst/>
            <a:ahLst/>
            <a:cxnLst/>
            <a:rect r="r" b="b" t="t" l="l"/>
            <a:pathLst>
              <a:path h="3505577" w="4262100">
                <a:moveTo>
                  <a:pt x="0" y="0"/>
                </a:moveTo>
                <a:lnTo>
                  <a:pt x="4262100" y="0"/>
                </a:lnTo>
                <a:lnTo>
                  <a:pt x="4262100" y="3505577"/>
                </a:lnTo>
                <a:lnTo>
                  <a:pt x="0" y="35055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164756" y="-1694396"/>
            <a:ext cx="3939439" cy="3112156"/>
          </a:xfrm>
          <a:custGeom>
            <a:avLst/>
            <a:gdLst/>
            <a:ahLst/>
            <a:cxnLst/>
            <a:rect r="r" b="b" t="t" l="l"/>
            <a:pathLst>
              <a:path h="3112156" w="3939439">
                <a:moveTo>
                  <a:pt x="0" y="0"/>
                </a:moveTo>
                <a:lnTo>
                  <a:pt x="3939438" y="0"/>
                </a:lnTo>
                <a:lnTo>
                  <a:pt x="3939438" y="3112156"/>
                </a:lnTo>
                <a:lnTo>
                  <a:pt x="0" y="31121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6080172"/>
            <a:ext cx="1396048" cy="425795"/>
          </a:xfrm>
          <a:custGeom>
            <a:avLst/>
            <a:gdLst/>
            <a:ahLst/>
            <a:cxnLst/>
            <a:rect r="r" b="b" t="t" l="l"/>
            <a:pathLst>
              <a:path h="425795" w="1396048">
                <a:moveTo>
                  <a:pt x="0" y="0"/>
                </a:moveTo>
                <a:lnTo>
                  <a:pt x="1396048" y="0"/>
                </a:lnTo>
                <a:lnTo>
                  <a:pt x="1396048" y="425794"/>
                </a:lnTo>
                <a:lnTo>
                  <a:pt x="0" y="4257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82465" y="2635661"/>
            <a:ext cx="7404901" cy="7874741"/>
            <a:chOff x="0" y="0"/>
            <a:chExt cx="1950262" cy="20740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0262" cy="2074006"/>
            </a:xfrm>
            <a:custGeom>
              <a:avLst/>
              <a:gdLst/>
              <a:ahLst/>
              <a:cxnLst/>
              <a:rect r="r" b="b" t="t" l="l"/>
              <a:pathLst>
                <a:path h="2074006" w="1950262">
                  <a:moveTo>
                    <a:pt x="46003" y="0"/>
                  </a:moveTo>
                  <a:lnTo>
                    <a:pt x="1904259" y="0"/>
                  </a:lnTo>
                  <a:cubicBezTo>
                    <a:pt x="1916460" y="0"/>
                    <a:pt x="1928161" y="4847"/>
                    <a:pt x="1936788" y="13474"/>
                  </a:cubicBezTo>
                  <a:cubicBezTo>
                    <a:pt x="1945415" y="22101"/>
                    <a:pt x="1950262" y="33802"/>
                    <a:pt x="1950262" y="46003"/>
                  </a:cubicBezTo>
                  <a:lnTo>
                    <a:pt x="1950262" y="2028003"/>
                  </a:lnTo>
                  <a:cubicBezTo>
                    <a:pt x="1950262" y="2053410"/>
                    <a:pt x="1929666" y="2074006"/>
                    <a:pt x="1904259" y="2074006"/>
                  </a:cubicBezTo>
                  <a:lnTo>
                    <a:pt x="46003" y="2074006"/>
                  </a:lnTo>
                  <a:cubicBezTo>
                    <a:pt x="33802" y="2074006"/>
                    <a:pt x="22101" y="2069159"/>
                    <a:pt x="13474" y="2060532"/>
                  </a:cubicBezTo>
                  <a:cubicBezTo>
                    <a:pt x="4847" y="2051905"/>
                    <a:pt x="0" y="2040204"/>
                    <a:pt x="0" y="2028003"/>
                  </a:cubicBezTo>
                  <a:lnTo>
                    <a:pt x="0" y="46003"/>
                  </a:lnTo>
                  <a:cubicBezTo>
                    <a:pt x="0" y="20596"/>
                    <a:pt x="20596" y="0"/>
                    <a:pt x="46003" y="0"/>
                  </a:cubicBez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950262" cy="2102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90624" y="3166118"/>
            <a:ext cx="5726482" cy="703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Structured reasoning made a much larger difference than expected.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Traditional CoT and QDecomp variants often failed due to missing schema grounding and lack of validation.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SCoT outperformed all baselines because it uses: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These features reduced error propagation and improved accuracy across both models, with the largest gains seen on Gemini.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34475" y="3355704"/>
            <a:ext cx="8090561" cy="6300524"/>
          </a:xfrm>
          <a:custGeom>
            <a:avLst/>
            <a:gdLst/>
            <a:ahLst/>
            <a:cxnLst/>
            <a:rect r="r" b="b" t="t" l="l"/>
            <a:pathLst>
              <a:path h="6300524" w="8090561">
                <a:moveTo>
                  <a:pt x="0" y="0"/>
                </a:moveTo>
                <a:lnTo>
                  <a:pt x="8090561" y="0"/>
                </a:lnTo>
                <a:lnTo>
                  <a:pt x="8090561" y="6300525"/>
                </a:lnTo>
                <a:lnTo>
                  <a:pt x="0" y="6300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255314" y="1123950"/>
            <a:ext cx="5777373" cy="134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49"/>
              </a:lnSpc>
            </a:pPr>
            <a:r>
              <a:rPr lang="en-US" sz="9499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Findings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9600" y="6763864"/>
            <a:ext cx="5726482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2C4"/>
                </a:solidFill>
                <a:latin typeface="Gordita"/>
                <a:ea typeface="Gordita"/>
                <a:cs typeface="Gordita"/>
                <a:sym typeface="Gordita"/>
              </a:rPr>
              <a:t>1) JSON-structured reasoning,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2C4"/>
                </a:solidFill>
                <a:latin typeface="Gordita"/>
                <a:ea typeface="Gordita"/>
                <a:cs typeface="Gordita"/>
                <a:sym typeface="Gordita"/>
              </a:rPr>
              <a:t>2) multiple candidate paths, and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E2C4"/>
                </a:solidFill>
                <a:latin typeface="Gordita"/>
                <a:ea typeface="Gordita"/>
                <a:cs typeface="Gordita"/>
                <a:sym typeface="Gordita"/>
              </a:rPr>
              <a:t>3) schema/logic validation with auto-  repair.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64629" y="-1028700"/>
            <a:ext cx="3646742" cy="4114800"/>
          </a:xfrm>
          <a:custGeom>
            <a:avLst/>
            <a:gdLst/>
            <a:ahLst/>
            <a:cxnLst/>
            <a:rect r="r" b="b" t="t" l="l"/>
            <a:pathLst>
              <a:path h="4114800" w="3646742">
                <a:moveTo>
                  <a:pt x="0" y="0"/>
                </a:moveTo>
                <a:lnTo>
                  <a:pt x="3646742" y="0"/>
                </a:lnTo>
                <a:lnTo>
                  <a:pt x="36467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406316" y="7853968"/>
            <a:ext cx="4812632" cy="4114800"/>
          </a:xfrm>
          <a:custGeom>
            <a:avLst/>
            <a:gdLst/>
            <a:ahLst/>
            <a:cxnLst/>
            <a:rect r="r" b="b" t="t" l="l"/>
            <a:pathLst>
              <a:path h="4114800" w="4812632">
                <a:moveTo>
                  <a:pt x="0" y="0"/>
                </a:moveTo>
                <a:lnTo>
                  <a:pt x="4812632" y="0"/>
                </a:lnTo>
                <a:lnTo>
                  <a:pt x="48126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-5400000">
            <a:off x="15280202" y="8935944"/>
            <a:ext cx="2675918" cy="3339679"/>
          </a:xfrm>
          <a:custGeom>
            <a:avLst/>
            <a:gdLst/>
            <a:ahLst/>
            <a:cxnLst/>
            <a:rect r="r" b="b" t="t" l="l"/>
            <a:pathLst>
              <a:path h="3339679" w="2675918">
                <a:moveTo>
                  <a:pt x="2675917" y="3339679"/>
                </a:moveTo>
                <a:lnTo>
                  <a:pt x="0" y="3339679"/>
                </a:lnTo>
                <a:lnTo>
                  <a:pt x="0" y="0"/>
                </a:lnTo>
                <a:lnTo>
                  <a:pt x="2675917" y="0"/>
                </a:lnTo>
                <a:lnTo>
                  <a:pt x="2675917" y="333967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2406316" y="2203185"/>
            <a:ext cx="4229254" cy="4007218"/>
          </a:xfrm>
          <a:custGeom>
            <a:avLst/>
            <a:gdLst/>
            <a:ahLst/>
            <a:cxnLst/>
            <a:rect r="r" b="b" t="t" l="l"/>
            <a:pathLst>
              <a:path h="4007218" w="4229254">
                <a:moveTo>
                  <a:pt x="0" y="0"/>
                </a:moveTo>
                <a:lnTo>
                  <a:pt x="4229254" y="0"/>
                </a:lnTo>
                <a:lnTo>
                  <a:pt x="4229254" y="4007218"/>
                </a:lnTo>
                <a:lnTo>
                  <a:pt x="0" y="40072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80784" y="-749992"/>
            <a:ext cx="3945064" cy="4114800"/>
          </a:xfrm>
          <a:custGeom>
            <a:avLst/>
            <a:gdLst/>
            <a:ahLst/>
            <a:cxnLst/>
            <a:rect r="r" b="b" t="t" l="l"/>
            <a:pathLst>
              <a:path h="4114800" w="3945064">
                <a:moveTo>
                  <a:pt x="0" y="0"/>
                </a:moveTo>
                <a:lnTo>
                  <a:pt x="3945064" y="0"/>
                </a:lnTo>
                <a:lnTo>
                  <a:pt x="39450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464629" y="3086100"/>
            <a:ext cx="4288776" cy="4605397"/>
          </a:xfrm>
          <a:custGeom>
            <a:avLst/>
            <a:gdLst/>
            <a:ahLst/>
            <a:cxnLst/>
            <a:rect r="r" b="b" t="t" l="l"/>
            <a:pathLst>
              <a:path h="4605397" w="4288776">
                <a:moveTo>
                  <a:pt x="0" y="0"/>
                </a:moveTo>
                <a:lnTo>
                  <a:pt x="4288776" y="0"/>
                </a:lnTo>
                <a:lnTo>
                  <a:pt x="4288776" y="4605397"/>
                </a:lnTo>
                <a:lnTo>
                  <a:pt x="0" y="46053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5717789" y="2140304"/>
            <a:ext cx="6852421" cy="12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0"/>
              </a:lnSpc>
            </a:pPr>
            <a:r>
              <a:rPr lang="en-US" sz="8600" b="true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37488" y="3957002"/>
            <a:ext cx="10413024" cy="388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15551"/>
                </a:solidFill>
                <a:latin typeface="Gordita"/>
                <a:ea typeface="Gordita"/>
                <a:cs typeface="Gordita"/>
                <a:sym typeface="Gordita"/>
              </a:rPr>
              <a:t>SCoT-based prompting consistently outperformed all other methods on both Gemini 2.5 Pro and GPT-4o-mini. Its structured reasoning, multiple candidate generation, and auto-fix mechanism helped avoid the clause-level errors that affected other approaches. Although Standard and QDecomp variants remained competitive, traditional Chain-of-Thought performed the weakest due to its overly detailed reasoning steps. Overall, our results show that adding structure to the reasoning process makes Text-to-SQL generation more accurate and reliable across different model sizes.</a:t>
            </a:r>
          </a:p>
          <a:p>
            <a:pPr algn="ctr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91782" y="6785051"/>
            <a:ext cx="6033028" cy="6033028"/>
          </a:xfrm>
          <a:custGeom>
            <a:avLst/>
            <a:gdLst/>
            <a:ahLst/>
            <a:cxnLst/>
            <a:rect r="r" b="b" t="t" l="l"/>
            <a:pathLst>
              <a:path h="6033028" w="6033028">
                <a:moveTo>
                  <a:pt x="0" y="0"/>
                </a:moveTo>
                <a:lnTo>
                  <a:pt x="6033027" y="0"/>
                </a:lnTo>
                <a:lnTo>
                  <a:pt x="6033027" y="6033028"/>
                </a:lnTo>
                <a:lnTo>
                  <a:pt x="0" y="6033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721975" y="-2833508"/>
            <a:ext cx="5915585" cy="5915585"/>
          </a:xfrm>
          <a:custGeom>
            <a:avLst/>
            <a:gdLst/>
            <a:ahLst/>
            <a:cxnLst/>
            <a:rect r="r" b="b" t="t" l="l"/>
            <a:pathLst>
              <a:path h="5915585" w="5915585">
                <a:moveTo>
                  <a:pt x="0" y="0"/>
                </a:moveTo>
                <a:lnTo>
                  <a:pt x="5915585" y="0"/>
                </a:lnTo>
                <a:lnTo>
                  <a:pt x="5915585" y="5915585"/>
                </a:lnTo>
                <a:lnTo>
                  <a:pt x="0" y="5915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613840" y="1974723"/>
            <a:ext cx="4060019" cy="4044794"/>
          </a:xfrm>
          <a:custGeom>
            <a:avLst/>
            <a:gdLst/>
            <a:ahLst/>
            <a:cxnLst/>
            <a:rect r="r" b="b" t="t" l="l"/>
            <a:pathLst>
              <a:path h="4044794" w="4060019">
                <a:moveTo>
                  <a:pt x="0" y="0"/>
                </a:moveTo>
                <a:lnTo>
                  <a:pt x="4060019" y="0"/>
                </a:lnTo>
                <a:lnTo>
                  <a:pt x="4060019" y="4044794"/>
                </a:lnTo>
                <a:lnTo>
                  <a:pt x="0" y="40447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-2700000">
            <a:off x="17145794" y="-2326513"/>
            <a:ext cx="2122680" cy="6963643"/>
            <a:chOff x="0" y="0"/>
            <a:chExt cx="559060" cy="18340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9060" cy="1834046"/>
            </a:xfrm>
            <a:custGeom>
              <a:avLst/>
              <a:gdLst/>
              <a:ahLst/>
              <a:cxnLst/>
              <a:rect r="r" b="b" t="t" l="l"/>
              <a:pathLst>
                <a:path h="1834046" w="559060">
                  <a:moveTo>
                    <a:pt x="0" y="0"/>
                  </a:moveTo>
                  <a:lnTo>
                    <a:pt x="559060" y="0"/>
                  </a:lnTo>
                  <a:lnTo>
                    <a:pt x="559060" y="1834046"/>
                  </a:lnTo>
                  <a:lnTo>
                    <a:pt x="0" y="1834046"/>
                  </a:ln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59060" cy="1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21990" y="6515730"/>
            <a:ext cx="2122680" cy="6963643"/>
            <a:chOff x="0" y="0"/>
            <a:chExt cx="559060" cy="18340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9060" cy="1834046"/>
            </a:xfrm>
            <a:custGeom>
              <a:avLst/>
              <a:gdLst/>
              <a:ahLst/>
              <a:cxnLst/>
              <a:rect r="r" b="b" t="t" l="l"/>
              <a:pathLst>
                <a:path h="1834046" w="559060">
                  <a:moveTo>
                    <a:pt x="0" y="0"/>
                  </a:moveTo>
                  <a:lnTo>
                    <a:pt x="559060" y="0"/>
                  </a:lnTo>
                  <a:lnTo>
                    <a:pt x="559060" y="1834046"/>
                  </a:lnTo>
                  <a:lnTo>
                    <a:pt x="0" y="1834046"/>
                  </a:lnTo>
                  <a:close/>
                </a:path>
              </a:pathLst>
            </a:custGeom>
            <a:solidFill>
              <a:srgbClr val="01555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559060" cy="186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443720" y="7966923"/>
            <a:ext cx="3945064" cy="4114800"/>
          </a:xfrm>
          <a:custGeom>
            <a:avLst/>
            <a:gdLst/>
            <a:ahLst/>
            <a:cxnLst/>
            <a:rect r="r" b="b" t="t" l="l"/>
            <a:pathLst>
              <a:path h="4114800" w="3945064">
                <a:moveTo>
                  <a:pt x="3945064" y="0"/>
                </a:moveTo>
                <a:lnTo>
                  <a:pt x="0" y="0"/>
                </a:lnTo>
                <a:lnTo>
                  <a:pt x="0" y="4114800"/>
                </a:lnTo>
                <a:lnTo>
                  <a:pt x="3945064" y="4114800"/>
                </a:lnTo>
                <a:lnTo>
                  <a:pt x="394506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true" flipV="true" rot="5400000">
            <a:off x="14994022" y="-1409700"/>
            <a:ext cx="2654046" cy="4114800"/>
          </a:xfrm>
          <a:custGeom>
            <a:avLst/>
            <a:gdLst/>
            <a:ahLst/>
            <a:cxnLst/>
            <a:rect r="r" b="b" t="t" l="l"/>
            <a:pathLst>
              <a:path h="4114800" w="2654046">
                <a:moveTo>
                  <a:pt x="265404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54046" y="0"/>
                </a:lnTo>
                <a:lnTo>
                  <a:pt x="2654046" y="411480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-2721975" y="3892750"/>
            <a:ext cx="4459799" cy="4253534"/>
          </a:xfrm>
          <a:custGeom>
            <a:avLst/>
            <a:gdLst/>
            <a:ahLst/>
            <a:cxnLst/>
            <a:rect r="r" b="b" t="t" l="l"/>
            <a:pathLst>
              <a:path h="4253534" w="4459799">
                <a:moveTo>
                  <a:pt x="0" y="0"/>
                </a:moveTo>
                <a:lnTo>
                  <a:pt x="4459799" y="0"/>
                </a:lnTo>
                <a:lnTo>
                  <a:pt x="4459799" y="4253534"/>
                </a:lnTo>
                <a:lnTo>
                  <a:pt x="0" y="42535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8888912" y="8432034"/>
            <a:ext cx="510177" cy="510177"/>
          </a:xfrm>
          <a:custGeom>
            <a:avLst/>
            <a:gdLst/>
            <a:ahLst/>
            <a:cxnLst/>
            <a:rect r="r" b="b" t="t" l="l"/>
            <a:pathLst>
              <a:path h="510177" w="510177">
                <a:moveTo>
                  <a:pt x="0" y="0"/>
                </a:moveTo>
                <a:lnTo>
                  <a:pt x="510176" y="0"/>
                </a:lnTo>
                <a:lnTo>
                  <a:pt x="510176" y="510177"/>
                </a:lnTo>
                <a:lnTo>
                  <a:pt x="0" y="5101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414880" y="3215427"/>
            <a:ext cx="9458240" cy="398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7"/>
              </a:lnSpc>
            </a:pPr>
            <a:r>
              <a:rPr lang="en-US" b="true" sz="14152">
                <a:solidFill>
                  <a:srgbClr val="015551"/>
                </a:solidFill>
                <a:latin typeface="Gordita Bold"/>
                <a:ea typeface="Gordita Bold"/>
                <a:cs typeface="Gordita Bold"/>
                <a:sym typeface="Gordit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DAG5nbSXhCE</dc:identifier>
  <dcterms:modified xsi:type="dcterms:W3CDTF">2011-08-01T06:04:30Z</dcterms:modified>
  <cp:revision>1</cp:revision>
  <dc:title>White and Teal Modern Geometric Thesis Defense Presentation</dc:title>
</cp:coreProperties>
</file>